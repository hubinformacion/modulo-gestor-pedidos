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síntesis para público funcional y técnico. Duración orientativa: 25–35 minutos; adaptar al ritmo de preguntas. Fuente: docs/00-inicio.md a docs/04-guia-de-uso.md y esquema local, revisión 21/10/2026. Los diagramas no certifican configuraciones de consolas ni pruebas de producción. Texto y diagramas de datos editables; la arquitectura ampliada conserva como imagen el dibujo existente y su SVG está en docs/diagramas. Se usa Inter; si el equipo no la tiene, PowerPoint puede sustituirla. No se han consultado datos operativos ni realizado envíos o respaldos.
Fuente: 00–04 · Documentación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el negocio antes de explicar tecnología. El sistema registra el pedido y coordina pagos, logística y documentos. No procesa tarjetas, transfiere dinero ni emite directamente comprobantes tributarios. Tesorería emite en su sistema habitual y adjunta el PDF. La entrega física y la emisión documental avanzan en paralelo una vez verificado el pago. Apoyo para recojo es un contacto, no un usuario del sistema.
Fuente: 01 · Arquitectura / 04 · Guía de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Monolito modular Next.js sobre Vercel; React/TypeScript para interfaz, Better Auth y Google OAuth para acceso, Zod para entradas, Drizzle y PostgreSQL Neon para datos. El diagrama agrupa autenticación y correo como servicios Google distintos para simplificar. WordPress solo embebe compra/seguimiento. El login del personal no comparte sesión con el padre WordPress. Las líneas representan uso de servicios, no orden temporal. El cron diario reconcilia permisos Drive: no hace backups ni envía correos. Despliegue Git/GitHub → Vercel omitido del dibujo para mantener legibilidad.
Fuente: 01 · Arquitectura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 diagrama de docs/diagramas/01-arquitectura.svg: compra pública embebida y equipos internos separados, interfaces pública/interna, servicios de servidor, OAuth, Neon, Drive, Gmail, Maps y despliegue GitHub. Para aprovechar el formato 16:9 se recortan solo encabezado y leyenda del original; el contenido de respaldo se mantiene como franja de texto. No se omiten componentes ni relaciones del área principal. El SVG íntegro sigue disponible en documentación, con leyenda. Las zonas no acreditan VPC privada. La franja describe procedimiento manual, no automatización ni copia realizada.
Fuente: 01 · Diagrama de arquitectura existente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Neon conserva identidad, autorización, configuración, compras, snapshots, intentos de carga, referencias/hash, actividad y metadatos de correo. payment_guides conserva además la guía PDF histórica codificada en base64, deduplicada por hash. Drive conserva bytes de depósitos, PDF de venta, adjuntos de subsanación y evidencia privada. Gmail conserva conversaciones. Un dump no incluye los bytes de Drive ni los mensajes Gmail. Los snapshots conservan título/precio/cuentas/destino/consentimiento de la compra aunque cambie la configuración. El seed solo incorpora configuración faltante; no es copia operativa.
Fuente: 01 · Arquitectura / 03 ·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Vista agrupada de las 40 tablas declaradas en schema.sql, contrastadas con schema.ts y auth-schema.ts. Los grupos organizan tablas; no representan esquemas SQL separados, ACL independientes ni relaciones FK. El catálogo completo está en docs/01-arquitectura.md. Las tres vistas siguientes muestran relaciones seleccionadas, con sus omisiones explícitas. No se consulta una BD operativa.
Fuente: 01 · Modelo de datos / src/db/schema.sql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Relaciones FK representadas: order_items.book_id → books.id, order_items.order_id → orders.id, payment_uploads.order_id → orders.id, payment_receipts.order_id → orders.id, payment_receipts.upload_id → payment_uploads.id. 1:N significa que un registro puede tener cero o varios asociados. upload_id es único: un intento puede originar como máximo un recibo. Se omiten FKs de guía, campus, contacto, cupón, promoción, gestor y los recibos seleccionados de cada sello en orders; están en el inventario y en el esquema. Campos mostrados son ejemplos; el conteo adicional se obtiene del SQL inicial. Bytes de depósitos en Drive; payment_guides es excepción: su PDF base64 está en BD.
Fuente: 01 · Modelo de datos / esquema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FK representadas: caja_requests.order_id → orders.id, sale_documents.request_id → caja_requests.id, treasury_observations.request_id → caja_requests.id y sale_document_batches.order_id → orders.id. Un pedido mixto tiene solicitudes para ambos sellos. Se omiten notas, actividad, adjuntos y permisos en el dibujo, pero figuran en el inventario. Las referencias draft_document_id/finalized_document_id en caja_requests apuntan a sale_documents y no se dibujan para evitar el ciclo visual. document_ids del lote es JSON, no una FK SQL: la pertenencia se comprueba en servicios y transacción. Conservar revisiones y lotes no implica enviar avisos pendientes. No condiciona entrega física.
Fuente: 01 · Modelo de datos / esquema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FK físicas session.user_id → user.id y account.user_id → user.id, ambas con eliminación en cascada en esquema. authorized_emails.email se compara con user.email mediante lógica de servidor: no hay FK SQL entre ellas. Se dibuja con línea discontinua para no inventar una relación física. verification no tiene FK a user y queda independiente en este diagrama. El campo password de account forma parte del esquema estándar, pero emailAndPassword.enabled es false. No hay registro abierto. Las comprobaciones transaccionales vuelven a validar sesión, email verificado, rol y unidades. Retiro de authorized_emails elimina sesiones de forma transaccional; ACL externas se reconcilian.
Fuente: 02 · Seguridad / esquema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Controles de aplicación revisados: sesión y autorización BD; proyecciones mínimas para comprador/Tesorería; transacciones/locks/CAS/snapshots/hash e historial. Controles externos pendientes de evidencia: rol SQL mínimo sin DDL/propiedad, append-only para auditoría, IAM/MFA, cifrado efectivo del proveedor y carpeta de backups. No se afirma RLS por tabla: la separación de roles/unidades es lógica de servidor. PII y tokens no tienen cifrado propio por campo en la aplicación; un rol SQL autorizado puede leer la información. TLS/reposo del proveedor no sustituye ese control. Las copias deben cifrarse antes de subir a destino privado. Los hashes verifican integridad y HMAC seudonimiza contadores; no cifran un DNI/PDF. PostgreSQL conserva PDF de guía base64; los demás adjuntos operativos tienen bytes en Drive.
Fuente: 02 · Seguridad y accesos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una transacción se validan stock, cuotas, numeración anual, partidas y registro del aviso. Los precios se recalculan desde catálogo en céntimos. UUID/hash del intento evita duplicar la compra y consumo de stock al recuperar un intento confirmado. Locks ordenados, versión y asignación evitan decisiones concurrentes. Google queda fuera de los locks. No se reintenta automáticamente una mutación con resultado ambiguo. BD y Google no comparten transacción distribuida. Correo se intenta durante la solicitud tras commit y su fallo no revierte el negocio.
Fuente: 01 · Arquitectura / 04 · Reglas de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Comprador accede por posesión del enlace nanoid32, sin login ni identidad civil verificada. Gestor personal consulta casos y solo el asignado decide pagos/logística/subsanación/anulación; notas FE según autorización del área. Tesorería solo consulta unidades asignadas y el responsable atiende la solicitud. Maestro administra accesos/configuración y consulta, pero no atiende casos. Buzones de Tesorería son de consulta, sin operación. Apoyo para recojo no recibe login, ACL ni enlace privado. Revocación cierra sesiones y libera abiertos; historial de cerrados permanece. Permisos Drive se retiran con reconciliación si falla Google.
Fuente: 02 · Matriz de permisos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Síntesis de los 12 requisitos, no auditoría nueva ni certificación. Autenticación: Google OAuth, correo verificado, lista cerrada, sin contraseña local. Sesiones de siete días y renovación diaria solo por proxy. Entradas: Zod, consultas parametrizadas, escape y validación de URL/origen. Archivos: hasta 3 MiB, MIME/firma/hash y pertenencia. Iframe: handshake y origin/source exactos, sin PII por postMessage. Drive: permisos nominados, sin acceso público. Cuotas compartidas reducen admisión abusiva, pero no cubren todo HTTP. Cifrado tránsito/reposo depende de proveedor; no hay cifrado propio por campo.
Fuente: 02 · Seguridad y accesos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registran cambios de estado, pagos, archivos, emisión/devolución, administración, cuotas y resultado de avisos. Notas conservan autor/fecha. No hay backfill ni borrado por UI. No se registra cada lectura o descarga ni se ofrece WORM frente al propietario de BD. TI debe aplicar permisos SQL append-only y runtime sin propiedad/DDL. No hay antivirus/CDR de PDF ni cifrado propio de PII/tokens por campo. Enlace comprador no tiene caducidad/rotación por UI y la sesión no tiene timeout adicional por inactividad. Legal/TI debe aceptar conservación indefinida y consentimiento. Nada de esto se presenta como vulnerabilidad demostrada en producción.
Fuente: 02 · Seguridad / 03 ·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Responsable técnico: Fredy Paolo Romero Espinoza; custodios y herramienta de cifrado deben confirmarse con TI. Equipo institucional, directorio privado fuera de Git/sin sincronización automática; conexión Neon directa, pooling desactivado, rol backup y cliente compatible. Exportar pg_dump formato custom, revisar salida y pg_restore --list, cifrar antes de subir, no pasar claves como argumento. Subir a carpeta privada Drive distinta de comprobantes, sin permisos heredados al equipo. Registrar fecha/proyecto/versión/tamaño/hash cifrado/resultado y verificar carga y ACL. Clave en custodia institucional separada. El listado de dump no sustituye restauración. No se ha creado ningún respaldo como parte de esta presentación.
Fuente: 03 · Respaldo manual semanal a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RTO objetivo cuatro horas, pendiente de ensayo medido. Medir desde descarga/descifrado hasta verificación de integridad y disponibilidad. Restaurar en base vacía aislada compatible sin envíos, cron ni cargas. Revisar versión, relaciones, referencias a Drive y contenido externo protegido por su política. Revisar revocaciones después del backup: restaurar puede reactivar autorizaciones antiguas. No reconciliar ACL de un ensayo contra carpeta operativa. Un cambio de esquema futuro requiere actualización incremental explícita respaldada fuera del build, nunca reset. Los planes de proveedores y sus ventanas no se afirman actualizados ni sustituyen el procedimiento.
Fuente: 03 · Restauración medida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fondoeditorial.continental.edu.pe/pedido/. Comunidad selecciona sede y correo institucional; declararlo no acredita pertenencia OAuth. Recojo permite consultar biblioteca/ubicación/mapa; delivery requiere ubigeo/dirección y receptor alterno si aplica. Confirmación incluye partidas, descuento, envío, facturación y cupón desplegable. Aceptar política y Enviar pedido. Conservar enlace privado y guía; si correo falla no crear pedido duplicado. Adjuntar PDF/JPG/PNG hasta 3 MiB; carga automática por unidad. No compartir enlace. Pago/Distribución/Entrega siguen consultables al cerrar. PDF finalizado vigente descargable en Pago. Puede cancelar pendiente sin pago verificado. Entrega estimada desde despacho: tres días hábiles Lima/Callao, cinco provincia, no garantía courier.
Fuente: 04 · Comprador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Google personal autorizado en Vercel /admin/pedidos. Abrir Ver detalles y tomar atención. Atención contiene comprador/resumen. Pagos permite comprobar recibos Drive por unidad, verificar o rechazar con motivo, consultar Tesorería y subsanar observaciones. Todos los pagos verificados habilitan distribución. Delivery exige courier; recojo exige apoyo seleccionado, lugar y horario. Entrega: evidencia opcional JPG/PNG hasta 3 MiB; esperar carga y confirmar. Notas e historial desde cabecera; no envían correo. Anulación con motivo solo antes del despacho, conserva documentos/historial y restituye stock una vez. No devuelve dinero. PDF incorrecto se devuelve a Tesorería aun después de entrega. Maestro no atiende casos.
Fuente: 04 · Gestor de Fondo Editorial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personal autorizado en /tesoreria-recaudacion; operador puede tener una o ambas unidades. Filtrar unidad/estado/responsable y Ver detalles. Tomar atención; reasignar exige motivo según caso. Revisar Boleta/Factura, datos fiscales/códigos/importes/depósitos de su unidad. Si hay error, usar observación dirigida a FE; notas son privadas del equipo Tesorería. Emitir con sistema tributario habitual, adjuntar PDF hasta 3 MiB y revisar vista previa, luego Finalizar solicitud. Observación abierta bloquea finalizar emisión, no logística. Devolución requiere corregir/cargar/finalizar nuevo ciclo conservando anterior. Buzón servicio solo consulta. El añadido final de seguridad/guía establece CC de gestores en avisos internos nuevos; la frase anterior sin CC a operadores no excluye CC a gestores.
Fuente: 04 · Operador de Tesorería Recaudación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solicitud de Tesorería puede crearse antes de que estén todos los pagos mixtos verificados. La logística entra a distribución solo cuando todos los pagos aplicables están verificados. PDF no condiciona distribución/despacho/entrega. Observación abierta bloquea finalizar emisión, no logística. En mixtos el comprador recibe ambos PDF en un solo lote cuando ambas solicitudes están finalizadas. Correcciones generan un nuevo lote con vigentes cuando todas vuelven a estar finalizadas. Avisos comprador en su hilo; internos por unidad, apoyo recojo aparte; CC de gestores en nuevos eventos según política. No existe cola ni reenvío de históricos. No hay exactamente una entrega garantizada ante timeout Gmail.
Fuente: 01 · Arquitectura / 04 · Estados y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Maestro administra correos personales/roles/unidades/buzones, seguridad y auditoría; gestores autorizados mantienen configuración operativa según permisos. Altas no dan acceso por designación documental: deben registrarse. Revocar elimina sesiones/libera abiertos, conserva cerrados y exige revisar retiro ACL. Campus permite horario/ubicación; apoyo listado general real, editable/desactivable, eliminación solo si sin pedidos. En distribución recojo seleccionar apoyo es obligatorio. Comprador ve nombre, lugar y horario, no correo del apoyo. Apoyo recibe nombre/documento/teléfono de quien recoge y publicaciones en hilo separado con CC gestores, sin enlace comprador. Gestor confirma entrega. Para campus se requiere DNI, correo de orden y comprobante. Seed no se actualiza con cambios UI.
Fuente: 04 · Maestro / Recojo y personal de apoyo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BD/OAuth temporal: revisar código seguro y consola, no repetir mutaciones ambiguas ni borrar sesiones por indisponibilidad. Gmail falla: negocio permanece, revisar auditoría y coordinar comunicación externa; no reenvío automático ni recuperación histórica. Drive falla: conservar selección e intento, reintentar carga sin duplicar; confirmar retiro efectivo de permisos. invalid_grant de propietario: técnico revisa cliente/consentimiento/políticas y renueva token con mismo cliente/scopes; no imprimirlo. Esquema incompatible: detener y preparar actualización incremental respaldada, no reset. Enlace expuesto: escalar técnico, no tiene rotación por UI. No crear pedidos ni depósitos de prueba; no compartir secretos/PII/token.
Fuente: 03 · Incidentes / 04 · Dudas e incidencias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documentación enumera pendientes de validación de rama y de merge/publicación; esta presentación no verifica su estado actual. No afirmar que producción esté validada o que el proyecto no esté desplegado solo por esa lista. Reunir por evidencia: ambiente, versión, fecha, responsable, resultado. Funcional+técnico: casos de rol/asignación/observaciones/adjuntos/WordPress móvil. Técnico: cuotas/idempotencia/locks, ACL respuesta perdida, instalación compatible/rechazo sin tocar producción. TI: MFA/OAuth/IAM/SQL/región/cifrado/firewall/Drive. Técnico+funcional: primera copia/restauración ≤4h medida. Legal/funcional: finalidad, consentimiento, tercero receptor, retención y eventos. Build/lint no prueban OAuth/Gmail/Drive/WordPress ni cumplimiento. Capturas redactadas sin credenciales/documentos reales.
Fuente: 00 · Qué falta / 02 · Evidencias / 03 ·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reiterando: roles y responsabilidad personal, evidencia de controles compartidos, respaldo manual con ensayo pendiente. Contacto funcional Jullisa del Pilar Falla Aguirre, coordinadora Fondo Editorial, jfalla@continental.edu.pe. Técnico Fredy Paolo Romero Espinoza, asistente Plataformas Hub de Información y Fondo Editorial, fromeror@continental.edu.pe. Documentos completos en docs/00-inicio.md, docs/01-arquitectura.md, docs/02-seguridad.md, docs/03-operacion-y-cierre.md y docs/04-guia-de-uso.md. No se ejecutaron pruebas operativas, consultas a BD ni envíos para elaborar esta presentación.
Fuente: 00 · Responsables / 01–04 · Síntesis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VISIÓN GENERAL</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Gestor de pedidos</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Fondo Editorial Continental</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00–04 · Documentación del proyecto</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01 / 24</a:t>
            </a:r>
            <a:endParaRPr lang="es-PE" sz="1050" dirty="0"/>
          </a:p>
        </p:txBody>
      </p:sp>
      <p:sp>
        <p:nvSpPr>
          <p:cNvPr id="11" name="Text 8"/>
          <p:cNvSpPr txBox="1"/>
          <p:nvPr/>
        </p:nvSpPr>
        <p:spPr>
          <a:xfrm>
            <a:off x="457200" y="2209800"/>
            <a:ext cx="7239000" cy="1562100"/>
          </a:xfrm>
          <a:prstGeom prst="rect">
            <a:avLst/>
          </a:prstGeom>
          <a:noFill/>
          <a:ln/>
        </p:spPr>
        <p:txBody>
          <a:bodyPr wrap="none" lIns="0" tIns="0" rIns="0" bIns="0" rtlCol="0" anchor="t"/>
          <a:lstStyle/>
          <a:p>
            <a:pPr algn="l" indent="0" marL="0">
              <a:lnSpc>
                <a:spcPct val="122000"/>
              </a:lnSpc>
              <a:buNone/>
            </a:pPr>
            <a:r>
              <a:rPr lang="es-PE" altLang="en-US" sz="3000" b="1" dirty="0">
                <a:solidFill>
                  <a:srgbClr val="25202D"/>
                </a:solidFill>
                <a:latin typeface="Inter" pitchFamily="34" charset="0"/>
                <a:ea typeface="Inter" pitchFamily="34" charset="-122"/>
                <a:cs typeface="Inter" pitchFamily="34" charset="-120"/>
              </a:rPr>
              <a:t>De la compra a la entrega,</a:t>
            </a:r>
            <a:endParaRPr lang="es-PE" sz="3000" dirty="0"/>
          </a:p>
          <a:p>
            <a:pPr algn="l" indent="0" marL="0">
              <a:lnSpc>
                <a:spcPct val="122000"/>
              </a:lnSpc>
              <a:buNone/>
            </a:pPr>
            <a:r>
              <a:rPr lang="es-PE" altLang="en-US" sz="3000" b="1" dirty="0">
                <a:solidFill>
                  <a:srgbClr val="25202D"/>
                </a:solidFill>
                <a:latin typeface="Inter" pitchFamily="34" charset="0"/>
                <a:ea typeface="Inter" pitchFamily="34" charset="-122"/>
                <a:cs typeface="Inter" pitchFamily="34" charset="-120"/>
              </a:rPr>
              <a:t>con trazabilidad en cada paso.</a:t>
            </a:r>
            <a:endParaRPr lang="es-PE" sz="3000" dirty="0"/>
          </a:p>
        </p:txBody>
      </p:sp>
      <p:sp>
        <p:nvSpPr>
          <p:cNvPr id="12" name="Text 9"/>
          <p:cNvSpPr txBox="1"/>
          <p:nvPr/>
        </p:nvSpPr>
        <p:spPr>
          <a:xfrm>
            <a:off x="457200" y="4191000"/>
            <a:ext cx="6705600" cy="1066800"/>
          </a:xfrm>
          <a:prstGeom prst="rect">
            <a:avLst/>
          </a:prstGeom>
          <a:noFill/>
          <a:ln/>
        </p:spPr>
        <p:txBody>
          <a:bodyPr wrap="none" lIns="0" tIns="0" rIns="0" bIns="0" rtlCol="0" anchor="t"/>
          <a:lstStyle/>
          <a:p>
            <a:pPr algn="l" indent="0" marL="0">
              <a:lnSpc>
                <a:spcPct val="122000"/>
              </a:lnSpc>
              <a:buNone/>
            </a:pPr>
            <a:r>
              <a:rPr lang="es-PE" altLang="en-US" sz="1875" dirty="0">
                <a:solidFill>
                  <a:srgbClr val="625C6D"/>
                </a:solidFill>
                <a:latin typeface="Inter" pitchFamily="34" charset="0"/>
                <a:ea typeface="Inter" pitchFamily="34" charset="-122"/>
                <a:cs typeface="Inter" pitchFamily="34" charset="-120"/>
              </a:rPr>
              <a:t>Arquitectura · Seguridad</a:t>
            </a:r>
            <a:endParaRPr lang="es-PE" sz="1875" dirty="0"/>
          </a:p>
          <a:p>
            <a:pPr algn="l" indent="0" marL="0">
              <a:lnSpc>
                <a:spcPct val="122000"/>
              </a:lnSpc>
              <a:buNone/>
            </a:pPr>
            <a:r>
              <a:rPr lang="es-PE" altLang="en-US" sz="1875" dirty="0">
                <a:solidFill>
                  <a:srgbClr val="625C6D"/>
                </a:solidFill>
                <a:latin typeface="Inter" pitchFamily="34" charset="0"/>
                <a:ea typeface="Inter" pitchFamily="34" charset="-122"/>
                <a:cs typeface="Inter" pitchFamily="34" charset="-120"/>
              </a:rPr>
              <a:t>Respaldos · Guías de uso</a:t>
            </a:r>
            <a:endParaRPr lang="es-PE" sz="1875" dirty="0"/>
          </a:p>
        </p:txBody>
      </p:sp>
      <p:sp>
        <p:nvSpPr>
          <p:cNvPr id="13" name="Shape 10"/>
          <p:cNvSpPr/>
          <p:nvPr/>
        </p:nvSpPr>
        <p:spPr>
          <a:xfrm>
            <a:off x="9525000" y="2743200"/>
            <a:ext cx="9525" cy="228600"/>
          </a:xfrm>
          <a:custGeom>
            <a:avLst/>
            <a:gdLst/>
            <a:ahLst/>
            <a:cxnLst/>
            <a:rect l="l" t="t" r="r" b="b"/>
            <a:pathLst>
              <a:path w="9525" h="228600">
                <a:moveTo>
                  <a:pt x="0" y="0"/>
                </a:moveTo>
                <a:lnTo>
                  <a:pt x="0" y="228600"/>
                </a:lnTo>
              </a:path>
            </a:pathLst>
          </a:custGeom>
          <a:noFill/>
          <a:ln w="19050">
            <a:solidFill>
              <a:srgbClr val="625C6D"/>
            </a:solidFill>
            <a:prstDash val="solid"/>
            <a:tailEnd type="triangle"/>
          </a:ln>
        </p:spPr>
      </p:sp>
      <p:sp>
        <p:nvSpPr>
          <p:cNvPr id="14" name="Shape 11"/>
          <p:cNvSpPr/>
          <p:nvPr/>
        </p:nvSpPr>
        <p:spPr>
          <a:xfrm>
            <a:off x="8001000" y="2133600"/>
            <a:ext cx="3276600" cy="609600"/>
          </a:xfrm>
          <a:prstGeom prst="roundRect">
            <a:avLst>
              <a:gd name="adj" fmla="val 9000"/>
            </a:avLst>
          </a:prstGeom>
          <a:solidFill>
            <a:srgbClr val="F3EAFC"/>
          </a:solidFill>
          <a:ln w="9525">
            <a:solidFill>
              <a:srgbClr val="DDD7E5"/>
            </a:solidFill>
            <a:prstDash val="solid"/>
          </a:ln>
        </p:spPr>
      </p:sp>
      <p:sp>
        <p:nvSpPr>
          <p:cNvPr id="15" name="Text 12"/>
          <p:cNvSpPr txBox="1"/>
          <p:nvPr/>
        </p:nvSpPr>
        <p:spPr>
          <a:xfrm>
            <a:off x="8229600" y="2286000"/>
            <a:ext cx="4572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01</a:t>
            </a:r>
            <a:endParaRPr lang="es-PE" sz="1350" dirty="0"/>
          </a:p>
        </p:txBody>
      </p:sp>
      <p:sp>
        <p:nvSpPr>
          <p:cNvPr id="16" name="Text 13"/>
          <p:cNvSpPr txBox="1"/>
          <p:nvPr/>
        </p:nvSpPr>
        <p:spPr>
          <a:xfrm>
            <a:off x="8839200" y="2286000"/>
            <a:ext cx="22479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Comprar</a:t>
            </a:r>
            <a:endParaRPr lang="es-PE" sz="1650" dirty="0"/>
          </a:p>
        </p:txBody>
      </p:sp>
      <p:sp>
        <p:nvSpPr>
          <p:cNvPr id="17" name="Shape 14"/>
          <p:cNvSpPr/>
          <p:nvPr/>
        </p:nvSpPr>
        <p:spPr>
          <a:xfrm>
            <a:off x="9525000" y="3581400"/>
            <a:ext cx="9525" cy="228600"/>
          </a:xfrm>
          <a:custGeom>
            <a:avLst/>
            <a:gdLst/>
            <a:ahLst/>
            <a:cxnLst/>
            <a:rect l="l" t="t" r="r" b="b"/>
            <a:pathLst>
              <a:path w="9525" h="228600">
                <a:moveTo>
                  <a:pt x="0" y="0"/>
                </a:moveTo>
                <a:lnTo>
                  <a:pt x="0" y="228600"/>
                </a:lnTo>
              </a:path>
            </a:pathLst>
          </a:custGeom>
          <a:noFill/>
          <a:ln w="19050">
            <a:solidFill>
              <a:srgbClr val="625C6D"/>
            </a:solidFill>
            <a:prstDash val="solid"/>
            <a:tailEnd type="triangle"/>
          </a:ln>
        </p:spPr>
      </p:sp>
      <p:sp>
        <p:nvSpPr>
          <p:cNvPr id="18" name="Shape 15"/>
          <p:cNvSpPr/>
          <p:nvPr/>
        </p:nvSpPr>
        <p:spPr>
          <a:xfrm>
            <a:off x="8001000" y="2971800"/>
            <a:ext cx="3276600" cy="609600"/>
          </a:xfrm>
          <a:prstGeom prst="roundRect">
            <a:avLst>
              <a:gd name="adj" fmla="val 9000"/>
            </a:avLst>
          </a:prstGeom>
          <a:solidFill>
            <a:srgbClr val="F8F7FA"/>
          </a:solidFill>
          <a:ln w="9525">
            <a:solidFill>
              <a:srgbClr val="DDD7E5"/>
            </a:solidFill>
            <a:prstDash val="solid"/>
          </a:ln>
        </p:spPr>
      </p:sp>
      <p:sp>
        <p:nvSpPr>
          <p:cNvPr id="19" name="Text 16"/>
          <p:cNvSpPr txBox="1"/>
          <p:nvPr/>
        </p:nvSpPr>
        <p:spPr>
          <a:xfrm>
            <a:off x="8229600" y="3124200"/>
            <a:ext cx="4572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02</a:t>
            </a:r>
            <a:endParaRPr lang="es-PE" sz="1350" dirty="0"/>
          </a:p>
        </p:txBody>
      </p:sp>
      <p:sp>
        <p:nvSpPr>
          <p:cNvPr id="20" name="Text 17"/>
          <p:cNvSpPr txBox="1"/>
          <p:nvPr/>
        </p:nvSpPr>
        <p:spPr>
          <a:xfrm>
            <a:off x="8839200" y="3124200"/>
            <a:ext cx="22479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Atender</a:t>
            </a:r>
            <a:endParaRPr lang="es-PE" sz="1650" dirty="0"/>
          </a:p>
        </p:txBody>
      </p:sp>
      <p:sp>
        <p:nvSpPr>
          <p:cNvPr id="21" name="Shape 18"/>
          <p:cNvSpPr/>
          <p:nvPr/>
        </p:nvSpPr>
        <p:spPr>
          <a:xfrm>
            <a:off x="9525000" y="4419600"/>
            <a:ext cx="9525" cy="228600"/>
          </a:xfrm>
          <a:custGeom>
            <a:avLst/>
            <a:gdLst/>
            <a:ahLst/>
            <a:cxnLst/>
            <a:rect l="l" t="t" r="r" b="b"/>
            <a:pathLst>
              <a:path w="9525" h="228600">
                <a:moveTo>
                  <a:pt x="0" y="0"/>
                </a:moveTo>
                <a:lnTo>
                  <a:pt x="0" y="228600"/>
                </a:lnTo>
              </a:path>
            </a:pathLst>
          </a:custGeom>
          <a:noFill/>
          <a:ln w="19050">
            <a:solidFill>
              <a:srgbClr val="625C6D"/>
            </a:solidFill>
            <a:prstDash val="solid"/>
            <a:tailEnd type="triangle"/>
          </a:ln>
        </p:spPr>
      </p:sp>
      <p:sp>
        <p:nvSpPr>
          <p:cNvPr id="22" name="Shape 19"/>
          <p:cNvSpPr/>
          <p:nvPr/>
        </p:nvSpPr>
        <p:spPr>
          <a:xfrm>
            <a:off x="8001000" y="3810000"/>
            <a:ext cx="3276600" cy="609600"/>
          </a:xfrm>
          <a:prstGeom prst="roundRect">
            <a:avLst>
              <a:gd name="adj" fmla="val 9000"/>
            </a:avLst>
          </a:prstGeom>
          <a:solidFill>
            <a:srgbClr val="F8F7FA"/>
          </a:solidFill>
          <a:ln w="9525">
            <a:solidFill>
              <a:srgbClr val="DDD7E5"/>
            </a:solidFill>
            <a:prstDash val="solid"/>
          </a:ln>
        </p:spPr>
      </p:sp>
      <p:sp>
        <p:nvSpPr>
          <p:cNvPr id="23" name="Text 20"/>
          <p:cNvSpPr txBox="1"/>
          <p:nvPr/>
        </p:nvSpPr>
        <p:spPr>
          <a:xfrm>
            <a:off x="8229600" y="3962400"/>
            <a:ext cx="4572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03</a:t>
            </a:r>
            <a:endParaRPr lang="es-PE" sz="1350" dirty="0"/>
          </a:p>
        </p:txBody>
      </p:sp>
      <p:sp>
        <p:nvSpPr>
          <p:cNvPr id="24" name="Text 21"/>
          <p:cNvSpPr txBox="1"/>
          <p:nvPr/>
        </p:nvSpPr>
        <p:spPr>
          <a:xfrm>
            <a:off x="8839200" y="3962400"/>
            <a:ext cx="22479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Documentar</a:t>
            </a:r>
            <a:endParaRPr lang="es-PE" sz="1650" dirty="0"/>
          </a:p>
        </p:txBody>
      </p:sp>
      <p:sp>
        <p:nvSpPr>
          <p:cNvPr id="25" name="Shape 22"/>
          <p:cNvSpPr/>
          <p:nvPr/>
        </p:nvSpPr>
        <p:spPr>
          <a:xfrm>
            <a:off x="8001000" y="4648200"/>
            <a:ext cx="3276600" cy="609600"/>
          </a:xfrm>
          <a:prstGeom prst="roundRect">
            <a:avLst>
              <a:gd name="adj" fmla="val 9000"/>
            </a:avLst>
          </a:prstGeom>
          <a:solidFill>
            <a:srgbClr val="F8F7FA"/>
          </a:solidFill>
          <a:ln w="9525">
            <a:solidFill>
              <a:srgbClr val="DDD7E5"/>
            </a:solidFill>
            <a:prstDash val="solid"/>
          </a:ln>
        </p:spPr>
      </p:sp>
      <p:sp>
        <p:nvSpPr>
          <p:cNvPr id="26" name="Text 23"/>
          <p:cNvSpPr txBox="1"/>
          <p:nvPr/>
        </p:nvSpPr>
        <p:spPr>
          <a:xfrm>
            <a:off x="8229600" y="4800600"/>
            <a:ext cx="4572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04</a:t>
            </a:r>
            <a:endParaRPr lang="es-PE" sz="1350" dirty="0"/>
          </a:p>
        </p:txBody>
      </p:sp>
      <p:sp>
        <p:nvSpPr>
          <p:cNvPr id="27" name="Text 24"/>
          <p:cNvSpPr txBox="1"/>
          <p:nvPr/>
        </p:nvSpPr>
        <p:spPr>
          <a:xfrm>
            <a:off x="8839200" y="4800600"/>
            <a:ext cx="22479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Entregar</a:t>
            </a:r>
            <a:endParaRPr lang="es-PE"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01 · CÓMO FUNCIONA</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Un proceso compartido, con responsabilidades claras</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El comprador inicia; Fondo Editorial y Tesorería completan la atención.</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01 · Arquitectura / 04 · Guía de uso</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02 / 24</a:t>
            </a:r>
            <a:endParaRPr lang="es-PE" sz="1050" dirty="0"/>
          </a:p>
        </p:txBody>
      </p:sp>
      <p:sp>
        <p:nvSpPr>
          <p:cNvPr id="11" name="Shape 8"/>
          <p:cNvSpPr/>
          <p:nvPr/>
        </p:nvSpPr>
        <p:spPr>
          <a:xfrm>
            <a:off x="4013200" y="348615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2" name="Shape 9"/>
          <p:cNvSpPr/>
          <p:nvPr/>
        </p:nvSpPr>
        <p:spPr>
          <a:xfrm>
            <a:off x="7874000" y="348615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3" name="Shape 10"/>
          <p:cNvSpPr/>
          <p:nvPr/>
        </p:nvSpPr>
        <p:spPr>
          <a:xfrm>
            <a:off x="457200" y="2400300"/>
            <a:ext cx="3556000" cy="2171700"/>
          </a:xfrm>
          <a:prstGeom prst="roundRect">
            <a:avLst>
              <a:gd name="adj" fmla="val 2526"/>
            </a:avLst>
          </a:prstGeom>
          <a:solidFill>
            <a:srgbClr val="F3EAFC"/>
          </a:solidFill>
          <a:ln w="9525">
            <a:solidFill>
              <a:srgbClr val="6802C1"/>
            </a:solidFill>
            <a:prstDash val="solid"/>
          </a:ln>
        </p:spPr>
      </p:sp>
      <p:sp>
        <p:nvSpPr>
          <p:cNvPr id="14" name="Text 11"/>
          <p:cNvSpPr txBox="1"/>
          <p:nvPr/>
        </p:nvSpPr>
        <p:spPr>
          <a:xfrm>
            <a:off x="6477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802C1"/>
                </a:solidFill>
                <a:latin typeface="Inter" pitchFamily="34" charset="0"/>
                <a:ea typeface="Inter" pitchFamily="34" charset="-122"/>
                <a:cs typeface="Inter" pitchFamily="34" charset="-120"/>
              </a:rPr>
              <a:t>01</a:t>
            </a:r>
            <a:endParaRPr lang="es-PE" sz="900" dirty="0"/>
          </a:p>
        </p:txBody>
      </p:sp>
      <p:sp>
        <p:nvSpPr>
          <p:cNvPr id="15" name="Text 12"/>
          <p:cNvSpPr txBox="1"/>
          <p:nvPr/>
        </p:nvSpPr>
        <p:spPr>
          <a:xfrm>
            <a:off x="6477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Comprador</a:t>
            </a:r>
            <a:endParaRPr lang="es-PE" sz="1725" dirty="0"/>
          </a:p>
        </p:txBody>
      </p:sp>
      <p:sp>
        <p:nvSpPr>
          <p:cNvPr id="16" name="Text 13"/>
          <p:cNvSpPr txBox="1"/>
          <p:nvPr/>
        </p:nvSpPr>
        <p:spPr>
          <a:xfrm>
            <a:off x="647700" y="3314700"/>
            <a:ext cx="3175000" cy="1181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Selecciona títulos, registra</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sus datos y carga depósitos.</a:t>
            </a:r>
            <a:endParaRPr lang="es-PE" sz="1350" dirty="0"/>
          </a:p>
        </p:txBody>
      </p:sp>
      <p:sp>
        <p:nvSpPr>
          <p:cNvPr id="17" name="Shape 14"/>
          <p:cNvSpPr/>
          <p:nvPr/>
        </p:nvSpPr>
        <p:spPr>
          <a:xfrm>
            <a:off x="4318000" y="2400300"/>
            <a:ext cx="3556000" cy="2171700"/>
          </a:xfrm>
          <a:prstGeom prst="roundRect">
            <a:avLst>
              <a:gd name="adj" fmla="val 2526"/>
            </a:avLst>
          </a:prstGeom>
          <a:solidFill>
            <a:srgbClr val="F8F7FA"/>
          </a:solidFill>
          <a:ln w="9525">
            <a:solidFill>
              <a:srgbClr val="DDD7E5"/>
            </a:solidFill>
            <a:prstDash val="solid"/>
          </a:ln>
        </p:spPr>
      </p:sp>
      <p:sp>
        <p:nvSpPr>
          <p:cNvPr id="18" name="Text 15"/>
          <p:cNvSpPr txBox="1"/>
          <p:nvPr/>
        </p:nvSpPr>
        <p:spPr>
          <a:xfrm>
            <a:off x="45085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02</a:t>
            </a:r>
            <a:endParaRPr lang="es-PE" sz="900" dirty="0"/>
          </a:p>
        </p:txBody>
      </p:sp>
      <p:sp>
        <p:nvSpPr>
          <p:cNvPr id="19" name="Text 16"/>
          <p:cNvSpPr txBox="1"/>
          <p:nvPr/>
        </p:nvSpPr>
        <p:spPr>
          <a:xfrm>
            <a:off x="45085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Fondo Editorial</a:t>
            </a:r>
            <a:endParaRPr lang="es-PE" sz="1725" dirty="0"/>
          </a:p>
        </p:txBody>
      </p:sp>
      <p:sp>
        <p:nvSpPr>
          <p:cNvPr id="20" name="Text 17"/>
          <p:cNvSpPr txBox="1"/>
          <p:nvPr/>
        </p:nvSpPr>
        <p:spPr>
          <a:xfrm>
            <a:off x="4508500" y="3314700"/>
            <a:ext cx="3175000" cy="1181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Verifica pagos y coordina</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distribución y entrega.</a:t>
            </a:r>
            <a:endParaRPr lang="es-PE" sz="1350" dirty="0"/>
          </a:p>
        </p:txBody>
      </p:sp>
      <p:sp>
        <p:nvSpPr>
          <p:cNvPr id="21" name="Shape 18"/>
          <p:cNvSpPr/>
          <p:nvPr/>
        </p:nvSpPr>
        <p:spPr>
          <a:xfrm>
            <a:off x="8178800" y="2400300"/>
            <a:ext cx="3556000" cy="2171700"/>
          </a:xfrm>
          <a:prstGeom prst="roundRect">
            <a:avLst>
              <a:gd name="adj" fmla="val 2526"/>
            </a:avLst>
          </a:prstGeom>
          <a:solidFill>
            <a:srgbClr val="F8F7FA"/>
          </a:solidFill>
          <a:ln w="9525">
            <a:solidFill>
              <a:srgbClr val="DDD7E5"/>
            </a:solidFill>
            <a:prstDash val="solid"/>
          </a:ln>
        </p:spPr>
      </p:sp>
      <p:sp>
        <p:nvSpPr>
          <p:cNvPr id="22" name="Text 19"/>
          <p:cNvSpPr txBox="1"/>
          <p:nvPr/>
        </p:nvSpPr>
        <p:spPr>
          <a:xfrm>
            <a:off x="83693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03</a:t>
            </a:r>
            <a:endParaRPr lang="es-PE" sz="900" dirty="0"/>
          </a:p>
        </p:txBody>
      </p:sp>
      <p:sp>
        <p:nvSpPr>
          <p:cNvPr id="23" name="Text 20"/>
          <p:cNvSpPr txBox="1"/>
          <p:nvPr/>
        </p:nvSpPr>
        <p:spPr>
          <a:xfrm>
            <a:off x="83693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Tesorería</a:t>
            </a:r>
            <a:endParaRPr lang="es-PE" sz="1725" dirty="0"/>
          </a:p>
        </p:txBody>
      </p:sp>
      <p:sp>
        <p:nvSpPr>
          <p:cNvPr id="24" name="Text 21"/>
          <p:cNvSpPr txBox="1"/>
          <p:nvPr/>
        </p:nvSpPr>
        <p:spPr>
          <a:xfrm>
            <a:off x="8369300" y="3314700"/>
            <a:ext cx="3175000" cy="1181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Revisa datos de emisión</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y adjunta boleta o factura.</a:t>
            </a:r>
            <a:endParaRPr lang="es-PE" sz="1350" dirty="0"/>
          </a:p>
        </p:txBody>
      </p:sp>
      <p:sp>
        <p:nvSpPr>
          <p:cNvPr id="25" name="Shape 22"/>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6" name="Text 23"/>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El sistema coordina la operación; la validación del depósito y la emisión son institucionales.</a:t>
            </a:r>
            <a:endParaRPr lang="es-PE"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02 · ARQUITECTURA</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Una aplicación central conecta los servicios</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WordPress contiene la compra; el personal trabaja directamente en Vercel.</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01 · Arquitectura</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03 / 24</a:t>
            </a:r>
            <a:endParaRPr lang="es-PE" sz="1050" dirty="0"/>
          </a:p>
        </p:txBody>
      </p:sp>
      <p:sp>
        <p:nvSpPr>
          <p:cNvPr id="11" name="Shape 8"/>
          <p:cNvSpPr/>
          <p:nvPr/>
        </p:nvSpPr>
        <p:spPr>
          <a:xfrm>
            <a:off x="3124200" y="2781300"/>
            <a:ext cx="1333500" cy="9525"/>
          </a:xfrm>
          <a:custGeom>
            <a:avLst/>
            <a:gdLst/>
            <a:ahLst/>
            <a:cxnLst/>
            <a:rect l="l" t="t" r="r" b="b"/>
            <a:pathLst>
              <a:path w="1333500" h="9525">
                <a:moveTo>
                  <a:pt x="0" y="0"/>
                </a:moveTo>
                <a:lnTo>
                  <a:pt x="1333500" y="0"/>
                </a:lnTo>
              </a:path>
            </a:pathLst>
          </a:custGeom>
          <a:noFill/>
          <a:ln w="19050">
            <a:solidFill>
              <a:srgbClr val="625C6D"/>
            </a:solidFill>
            <a:prstDash val="solid"/>
            <a:tailEnd type="triangle"/>
          </a:ln>
        </p:spPr>
      </p:sp>
      <p:sp>
        <p:nvSpPr>
          <p:cNvPr id="12" name="Shape 9"/>
          <p:cNvSpPr/>
          <p:nvPr/>
        </p:nvSpPr>
        <p:spPr>
          <a:xfrm>
            <a:off x="3124200" y="3924300"/>
            <a:ext cx="1333500" cy="533400"/>
          </a:xfrm>
          <a:custGeom>
            <a:avLst/>
            <a:gdLst/>
            <a:ahLst/>
            <a:cxnLst/>
            <a:rect l="l" t="t" r="r" b="b"/>
            <a:pathLst>
              <a:path w="1333500" h="533400">
                <a:moveTo>
                  <a:pt x="0" y="533400"/>
                </a:moveTo>
                <a:lnTo>
                  <a:pt x="571500" y="533400"/>
                </a:lnTo>
                <a:quadBezTo>
                  <a:pt x="647700" y="533400"/>
                  <a:pt x="647700" y="457200"/>
                </a:quadBezTo>
                <a:lnTo>
                  <a:pt x="647700" y="76200"/>
                </a:lnTo>
                <a:quadBezTo>
                  <a:pt x="647700" y="0"/>
                  <a:pt x="723900" y="0"/>
                </a:quadBezTo>
                <a:lnTo>
                  <a:pt x="1333500" y="0"/>
                </a:lnTo>
              </a:path>
            </a:pathLst>
          </a:custGeom>
          <a:noFill/>
          <a:ln w="19050">
            <a:solidFill>
              <a:srgbClr val="625C6D"/>
            </a:solidFill>
            <a:prstDash val="solid"/>
            <a:tailEnd type="triangle"/>
          </a:ln>
        </p:spPr>
      </p:sp>
      <p:sp>
        <p:nvSpPr>
          <p:cNvPr id="13" name="Shape 10"/>
          <p:cNvSpPr/>
          <p:nvPr/>
        </p:nvSpPr>
        <p:spPr>
          <a:xfrm>
            <a:off x="7620000" y="2705100"/>
            <a:ext cx="1143000" cy="190500"/>
          </a:xfrm>
          <a:custGeom>
            <a:avLst/>
            <a:gdLst/>
            <a:ahLst/>
            <a:cxnLst/>
            <a:rect l="l" t="t" r="r" b="b"/>
            <a:pathLst>
              <a:path w="1143000" h="190500">
                <a:moveTo>
                  <a:pt x="0" y="0"/>
                </a:moveTo>
                <a:lnTo>
                  <a:pt x="533400" y="0"/>
                </a:lnTo>
                <a:quadBezTo>
                  <a:pt x="609600" y="0"/>
                  <a:pt x="609600" y="76200"/>
                </a:quadBezTo>
                <a:lnTo>
                  <a:pt x="609600" y="114300"/>
                </a:lnTo>
                <a:quadBezTo>
                  <a:pt x="609600" y="190500"/>
                  <a:pt x="685800" y="190500"/>
                </a:quadBezTo>
                <a:lnTo>
                  <a:pt x="1143000" y="190500"/>
                </a:lnTo>
              </a:path>
            </a:pathLst>
          </a:custGeom>
          <a:noFill/>
          <a:ln w="19050">
            <a:solidFill>
              <a:srgbClr val="625C6D"/>
            </a:solidFill>
            <a:prstDash val="solid"/>
            <a:tailEnd type="triangle"/>
          </a:ln>
        </p:spPr>
      </p:sp>
      <p:sp>
        <p:nvSpPr>
          <p:cNvPr id="14" name="Shape 11"/>
          <p:cNvSpPr/>
          <p:nvPr/>
        </p:nvSpPr>
        <p:spPr>
          <a:xfrm>
            <a:off x="7620000" y="3352800"/>
            <a:ext cx="1143000" cy="838200"/>
          </a:xfrm>
          <a:custGeom>
            <a:avLst/>
            <a:gdLst/>
            <a:ahLst/>
            <a:cxnLst/>
            <a:rect l="l" t="t" r="r" b="b"/>
            <a:pathLst>
              <a:path w="1143000" h="838200">
                <a:moveTo>
                  <a:pt x="0" y="0"/>
                </a:moveTo>
                <a:lnTo>
                  <a:pt x="533400" y="0"/>
                </a:lnTo>
                <a:quadBezTo>
                  <a:pt x="609600" y="0"/>
                  <a:pt x="609600" y="76200"/>
                </a:quadBezTo>
                <a:lnTo>
                  <a:pt x="609600" y="762000"/>
                </a:lnTo>
                <a:quadBezTo>
                  <a:pt x="609600" y="838200"/>
                  <a:pt x="685800" y="838200"/>
                </a:quadBezTo>
                <a:lnTo>
                  <a:pt x="1143000" y="838200"/>
                </a:lnTo>
              </a:path>
            </a:pathLst>
          </a:custGeom>
          <a:noFill/>
          <a:ln w="19050">
            <a:solidFill>
              <a:srgbClr val="625C6D"/>
            </a:solidFill>
            <a:prstDash val="solid"/>
            <a:tailEnd type="triangle"/>
          </a:ln>
        </p:spPr>
      </p:sp>
      <p:sp>
        <p:nvSpPr>
          <p:cNvPr id="15" name="Shape 12"/>
          <p:cNvSpPr/>
          <p:nvPr/>
        </p:nvSpPr>
        <p:spPr>
          <a:xfrm>
            <a:off x="7620000" y="4000500"/>
            <a:ext cx="1143000" cy="1485900"/>
          </a:xfrm>
          <a:custGeom>
            <a:avLst/>
            <a:gdLst/>
            <a:ahLst/>
            <a:cxnLst/>
            <a:rect l="l" t="t" r="r" b="b"/>
            <a:pathLst>
              <a:path w="1143000" h="1485900">
                <a:moveTo>
                  <a:pt x="0" y="0"/>
                </a:moveTo>
                <a:lnTo>
                  <a:pt x="533400" y="0"/>
                </a:lnTo>
                <a:quadBezTo>
                  <a:pt x="609600" y="0"/>
                  <a:pt x="609600" y="76200"/>
                </a:quadBezTo>
                <a:lnTo>
                  <a:pt x="609600" y="1409700"/>
                </a:lnTo>
                <a:quadBezTo>
                  <a:pt x="609600" y="1485900"/>
                  <a:pt x="685800" y="1485900"/>
                </a:quadBezTo>
                <a:lnTo>
                  <a:pt x="1143000" y="1485900"/>
                </a:lnTo>
              </a:path>
            </a:pathLst>
          </a:custGeom>
          <a:noFill/>
          <a:ln w="19050">
            <a:solidFill>
              <a:srgbClr val="625C6D"/>
            </a:solidFill>
            <a:prstDash val="solid"/>
            <a:tailEnd type="triangle"/>
          </a:ln>
        </p:spPr>
      </p:sp>
      <p:sp>
        <p:nvSpPr>
          <p:cNvPr id="16" name="Shape 13"/>
          <p:cNvSpPr/>
          <p:nvPr/>
        </p:nvSpPr>
        <p:spPr>
          <a:xfrm>
            <a:off x="457200" y="2209800"/>
            <a:ext cx="2667000" cy="1219200"/>
          </a:xfrm>
          <a:prstGeom prst="roundRect">
            <a:avLst>
              <a:gd name="adj" fmla="val 4500"/>
            </a:avLst>
          </a:prstGeom>
          <a:solidFill>
            <a:srgbClr val="F8F7FA"/>
          </a:solidFill>
          <a:ln w="9525">
            <a:solidFill>
              <a:srgbClr val="DDD7E5"/>
            </a:solidFill>
            <a:prstDash val="solid"/>
          </a:ln>
        </p:spPr>
      </p:sp>
      <p:sp>
        <p:nvSpPr>
          <p:cNvPr id="17" name="Text 14"/>
          <p:cNvSpPr txBox="1"/>
          <p:nvPr/>
        </p:nvSpPr>
        <p:spPr>
          <a:xfrm>
            <a:off x="647700" y="2362200"/>
            <a:ext cx="2286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WordPress</a:t>
            </a:r>
            <a:endParaRPr lang="es-PE" sz="1725" dirty="0"/>
          </a:p>
        </p:txBody>
      </p:sp>
      <p:sp>
        <p:nvSpPr>
          <p:cNvPr id="18" name="Text 15"/>
          <p:cNvSpPr txBox="1"/>
          <p:nvPr/>
        </p:nvSpPr>
        <p:spPr>
          <a:xfrm>
            <a:off x="647700" y="2819400"/>
            <a:ext cx="2286000" cy="5334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Compra y seguimiento</a:t>
            </a:r>
            <a:endParaRPr lang="es-PE" sz="1350" dirty="0"/>
          </a:p>
        </p:txBody>
      </p:sp>
      <p:sp>
        <p:nvSpPr>
          <p:cNvPr id="19" name="Shape 16"/>
          <p:cNvSpPr/>
          <p:nvPr/>
        </p:nvSpPr>
        <p:spPr>
          <a:xfrm>
            <a:off x="457200" y="3886200"/>
            <a:ext cx="2667000" cy="1219200"/>
          </a:xfrm>
          <a:prstGeom prst="roundRect">
            <a:avLst>
              <a:gd name="adj" fmla="val 4500"/>
            </a:avLst>
          </a:prstGeom>
          <a:solidFill>
            <a:srgbClr val="F8F7FA"/>
          </a:solidFill>
          <a:ln w="9525">
            <a:solidFill>
              <a:srgbClr val="DDD7E5"/>
            </a:solidFill>
            <a:prstDash val="solid"/>
          </a:ln>
        </p:spPr>
      </p:sp>
      <p:sp>
        <p:nvSpPr>
          <p:cNvPr id="20" name="Text 17"/>
          <p:cNvSpPr txBox="1"/>
          <p:nvPr/>
        </p:nvSpPr>
        <p:spPr>
          <a:xfrm>
            <a:off x="647700" y="4038600"/>
            <a:ext cx="2286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Personal</a:t>
            </a:r>
            <a:endParaRPr lang="es-PE" sz="1725" dirty="0"/>
          </a:p>
        </p:txBody>
      </p:sp>
      <p:sp>
        <p:nvSpPr>
          <p:cNvPr id="21" name="Text 18"/>
          <p:cNvSpPr txBox="1"/>
          <p:nvPr/>
        </p:nvSpPr>
        <p:spPr>
          <a:xfrm>
            <a:off x="647700" y="4495800"/>
            <a:ext cx="2286000" cy="5334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Acceso directo + Google</a:t>
            </a:r>
            <a:endParaRPr lang="es-PE" sz="1350" dirty="0"/>
          </a:p>
        </p:txBody>
      </p:sp>
      <p:sp>
        <p:nvSpPr>
          <p:cNvPr id="22" name="Shape 19"/>
          <p:cNvSpPr/>
          <p:nvPr/>
        </p:nvSpPr>
        <p:spPr>
          <a:xfrm>
            <a:off x="4457700" y="2209800"/>
            <a:ext cx="3162300" cy="2895600"/>
          </a:xfrm>
          <a:prstGeom prst="roundRect">
            <a:avLst>
              <a:gd name="adj" fmla="val 1895"/>
            </a:avLst>
          </a:prstGeom>
          <a:solidFill>
            <a:srgbClr val="F3EAFC"/>
          </a:solidFill>
          <a:ln w="9525">
            <a:solidFill>
              <a:srgbClr val="6802C1"/>
            </a:solidFill>
            <a:prstDash val="solid"/>
          </a:ln>
        </p:spPr>
      </p:sp>
      <p:sp>
        <p:nvSpPr>
          <p:cNvPr id="23" name="Text 20"/>
          <p:cNvSpPr txBox="1"/>
          <p:nvPr/>
        </p:nvSpPr>
        <p:spPr>
          <a:xfrm>
            <a:off x="4648200" y="2362200"/>
            <a:ext cx="27813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802C1"/>
                </a:solidFill>
                <a:latin typeface="Inter" pitchFamily="34" charset="0"/>
                <a:ea typeface="Inter" pitchFamily="34" charset="-122"/>
                <a:cs typeface="Inter" pitchFamily="34" charset="-120"/>
              </a:rPr>
              <a:t>VERCEL</a:t>
            </a:r>
            <a:endParaRPr lang="es-PE" sz="900" dirty="0"/>
          </a:p>
        </p:txBody>
      </p:sp>
      <p:sp>
        <p:nvSpPr>
          <p:cNvPr id="24" name="Text 21"/>
          <p:cNvSpPr txBox="1"/>
          <p:nvPr/>
        </p:nvSpPr>
        <p:spPr>
          <a:xfrm>
            <a:off x="4648200" y="2667000"/>
            <a:ext cx="27813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Aplicación Next.js</a:t>
            </a:r>
            <a:endParaRPr lang="es-PE" sz="1725" dirty="0"/>
          </a:p>
        </p:txBody>
      </p:sp>
      <p:sp>
        <p:nvSpPr>
          <p:cNvPr id="25" name="Text 22"/>
          <p:cNvSpPr txBox="1"/>
          <p:nvPr/>
        </p:nvSpPr>
        <p:spPr>
          <a:xfrm>
            <a:off x="4648200" y="3124200"/>
            <a:ext cx="2781300" cy="19050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Reglas del negocio</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Acceso y validaciones</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Acciones del servidor</a:t>
            </a:r>
            <a:endParaRPr lang="es-PE" sz="1350" dirty="0"/>
          </a:p>
        </p:txBody>
      </p:sp>
      <p:sp>
        <p:nvSpPr>
          <p:cNvPr id="26" name="Shape 23"/>
          <p:cNvSpPr/>
          <p:nvPr/>
        </p:nvSpPr>
        <p:spPr>
          <a:xfrm>
            <a:off x="8763000" y="2209800"/>
            <a:ext cx="2971800" cy="1066800"/>
          </a:xfrm>
          <a:prstGeom prst="roundRect">
            <a:avLst>
              <a:gd name="adj" fmla="val 5143"/>
            </a:avLst>
          </a:prstGeom>
          <a:solidFill>
            <a:srgbClr val="F8F7FA"/>
          </a:solidFill>
          <a:ln w="9525">
            <a:solidFill>
              <a:srgbClr val="DDD7E5"/>
            </a:solidFill>
            <a:prstDash val="solid"/>
          </a:ln>
        </p:spPr>
      </p:sp>
      <p:sp>
        <p:nvSpPr>
          <p:cNvPr id="27" name="Text 24"/>
          <p:cNvSpPr txBox="1"/>
          <p:nvPr/>
        </p:nvSpPr>
        <p:spPr>
          <a:xfrm>
            <a:off x="8953500" y="2362200"/>
            <a:ext cx="25908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Neon</a:t>
            </a:r>
            <a:endParaRPr lang="es-PE" sz="1725" dirty="0"/>
          </a:p>
        </p:txBody>
      </p:sp>
      <p:sp>
        <p:nvSpPr>
          <p:cNvPr id="28" name="Text 25"/>
          <p:cNvSpPr txBox="1"/>
          <p:nvPr/>
        </p:nvSpPr>
        <p:spPr>
          <a:xfrm>
            <a:off x="8953500" y="2819400"/>
            <a:ext cx="2590800" cy="3810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PostgreSQL · datos</a:t>
            </a:r>
            <a:endParaRPr lang="es-PE" sz="1350" dirty="0"/>
          </a:p>
        </p:txBody>
      </p:sp>
      <p:sp>
        <p:nvSpPr>
          <p:cNvPr id="29" name="Shape 26"/>
          <p:cNvSpPr/>
          <p:nvPr/>
        </p:nvSpPr>
        <p:spPr>
          <a:xfrm>
            <a:off x="8763000" y="3505200"/>
            <a:ext cx="2971800" cy="1066800"/>
          </a:xfrm>
          <a:prstGeom prst="roundRect">
            <a:avLst>
              <a:gd name="adj" fmla="val 5143"/>
            </a:avLst>
          </a:prstGeom>
          <a:solidFill>
            <a:srgbClr val="F8F7FA"/>
          </a:solidFill>
          <a:ln w="9525">
            <a:solidFill>
              <a:srgbClr val="DDD7E5"/>
            </a:solidFill>
            <a:prstDash val="solid"/>
          </a:ln>
        </p:spPr>
      </p:sp>
      <p:sp>
        <p:nvSpPr>
          <p:cNvPr id="30" name="Text 27"/>
          <p:cNvSpPr txBox="1"/>
          <p:nvPr/>
        </p:nvSpPr>
        <p:spPr>
          <a:xfrm>
            <a:off x="8953500" y="3657600"/>
            <a:ext cx="25908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Google Drive</a:t>
            </a:r>
            <a:endParaRPr lang="es-PE" sz="1725" dirty="0"/>
          </a:p>
        </p:txBody>
      </p:sp>
      <p:sp>
        <p:nvSpPr>
          <p:cNvPr id="31" name="Text 28"/>
          <p:cNvSpPr txBox="1"/>
          <p:nvPr/>
        </p:nvSpPr>
        <p:spPr>
          <a:xfrm>
            <a:off x="8953500" y="4114800"/>
            <a:ext cx="2590800" cy="3810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Archivos privados</a:t>
            </a:r>
            <a:endParaRPr lang="es-PE" sz="1350" dirty="0"/>
          </a:p>
        </p:txBody>
      </p:sp>
      <p:sp>
        <p:nvSpPr>
          <p:cNvPr id="32" name="Shape 29"/>
          <p:cNvSpPr/>
          <p:nvPr/>
        </p:nvSpPr>
        <p:spPr>
          <a:xfrm>
            <a:off x="8763000" y="4800600"/>
            <a:ext cx="2971800" cy="1066800"/>
          </a:xfrm>
          <a:prstGeom prst="roundRect">
            <a:avLst>
              <a:gd name="adj" fmla="val 5143"/>
            </a:avLst>
          </a:prstGeom>
          <a:solidFill>
            <a:srgbClr val="F8F7FA"/>
          </a:solidFill>
          <a:ln w="9525">
            <a:solidFill>
              <a:srgbClr val="DDD7E5"/>
            </a:solidFill>
            <a:prstDash val="solid"/>
          </a:ln>
        </p:spPr>
      </p:sp>
      <p:sp>
        <p:nvSpPr>
          <p:cNvPr id="33" name="Text 30"/>
          <p:cNvSpPr txBox="1"/>
          <p:nvPr/>
        </p:nvSpPr>
        <p:spPr>
          <a:xfrm>
            <a:off x="8953500" y="4953000"/>
            <a:ext cx="25908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Google OAuth / Gmail</a:t>
            </a:r>
            <a:endParaRPr lang="es-PE" sz="1725" dirty="0"/>
          </a:p>
        </p:txBody>
      </p:sp>
      <p:sp>
        <p:nvSpPr>
          <p:cNvPr id="34" name="Text 31"/>
          <p:cNvSpPr txBox="1"/>
          <p:nvPr/>
        </p:nvSpPr>
        <p:spPr>
          <a:xfrm>
            <a:off x="8953500" y="5410200"/>
            <a:ext cx="2590800" cy="3810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Identidad y avisos</a:t>
            </a:r>
            <a:endParaRPr lang="es-PE" sz="1350" dirty="0"/>
          </a:p>
        </p:txBody>
      </p:sp>
      <p:sp>
        <p:nvSpPr>
          <p:cNvPr id="35" name="Text 32"/>
          <p:cNvSpPr txBox="1"/>
          <p:nvPr/>
        </p:nvSpPr>
        <p:spPr>
          <a:xfrm>
            <a:off x="457200" y="5600700"/>
            <a:ext cx="7239000" cy="381000"/>
          </a:xfrm>
          <a:prstGeom prst="rect">
            <a:avLst/>
          </a:prstGeom>
          <a:noFill/>
          <a:ln/>
        </p:spPr>
        <p:txBody>
          <a:bodyPr wrap="none" lIns="0" tIns="0" rIns="0" bIns="0" rtlCol="0" anchor="t"/>
          <a:lstStyle/>
          <a:p>
            <a:pPr algn="l" indent="0" marL="0">
              <a:lnSpc>
                <a:spcPct val="122000"/>
              </a:lnSpc>
              <a:buNone/>
            </a:pPr>
            <a:r>
              <a:rPr lang="es-PE" altLang="en-US" sz="1200" dirty="0">
                <a:solidFill>
                  <a:srgbClr val="625C6D"/>
                </a:solidFill>
                <a:latin typeface="Inter" pitchFamily="34" charset="0"/>
                <a:ea typeface="Inter" pitchFamily="34" charset="-122"/>
                <a:cs typeface="Inter" pitchFamily="34" charset="-120"/>
              </a:rPr>
              <a:t>Flecha = la aplicación utiliza el servicio indicado.</a:t>
            </a:r>
            <a:endParaRPr lang="es-PE"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Text 1"/>
          <p:cNvSpPr txBox="1"/>
          <p:nvPr/>
        </p:nvSpPr>
        <p:spPr>
          <a:xfrm>
            <a:off x="457200" y="190500"/>
            <a:ext cx="11277600" cy="419100"/>
          </a:xfrm>
          <a:prstGeom prst="rect">
            <a:avLst/>
          </a:prstGeom>
          <a:noFill/>
          <a:ln/>
        </p:spPr>
        <p:txBody>
          <a:bodyPr wrap="none" lIns="0" tIns="0" rIns="0" bIns="0" rtlCol="0" anchor="t"/>
          <a:lstStyle/>
          <a:p>
            <a:pPr algn="l" indent="0" marL="0">
              <a:lnSpc>
                <a:spcPct val="122000"/>
              </a:lnSpc>
              <a:buNone/>
            </a:pPr>
            <a:r>
              <a:rPr lang="es-PE" altLang="en-US" sz="2100" b="1" dirty="0">
                <a:solidFill>
                  <a:srgbClr val="25202D"/>
                </a:solidFill>
                <a:latin typeface="Inter" pitchFamily="34" charset="0"/>
                <a:ea typeface="Inter" pitchFamily="34" charset="-122"/>
                <a:cs typeface="Inter" pitchFamily="34" charset="-120"/>
              </a:rPr>
              <a:t>Arquitectura ampliada: componentes y límites</a:t>
            </a:r>
            <a:endParaRPr lang="es-PE" sz="2100" dirty="0"/>
          </a:p>
        </p:txBody>
      </p:sp>
      <p:sp>
        <p:nvSpPr>
          <p:cNvPr id="5" name="Text 2"/>
          <p:cNvSpPr txBox="1"/>
          <p:nvPr/>
        </p:nvSpPr>
        <p:spPr>
          <a:xfrm>
            <a:off x="457200" y="609600"/>
            <a:ext cx="11277600" cy="266700"/>
          </a:xfrm>
          <a:prstGeom prst="rect">
            <a:avLst/>
          </a:prstGeom>
          <a:noFill/>
          <a:ln/>
        </p:spPr>
        <p:txBody>
          <a:bodyPr wrap="none" lIns="0" tIns="0" rIns="0" bIns="0" rtlCol="0" anchor="t"/>
          <a:lstStyle/>
          <a:p>
            <a:pPr algn="l" indent="0" marL="0">
              <a:lnSpc>
                <a:spcPct val="122000"/>
              </a:lnSpc>
              <a:buNone/>
            </a:pPr>
            <a:r>
              <a:rPr lang="es-PE" altLang="en-US" sz="1200" dirty="0">
                <a:solidFill>
                  <a:srgbClr val="625C6D"/>
                </a:solidFill>
                <a:latin typeface="Inter" pitchFamily="34" charset="0"/>
                <a:ea typeface="Inter" pitchFamily="34" charset="-122"/>
                <a:cs typeface="Inter" pitchFamily="34" charset="-120"/>
              </a:rPr>
              <a:t>El diagrama existente de docs: acceso público, operación interna, datos y servicios.</a:t>
            </a:r>
            <a:endParaRPr lang="es-PE" sz="1200" dirty="0"/>
          </a:p>
        </p:txBody>
      </p:sp>
      <p:pic>
        <p:nvPicPr>
          <p:cNvPr id="6" name="Image 0" descr="Arquitectura completa existente: WordPress, Vercel, PostgreSQL Neon, Google OAuth, Drive, Gmail, Maps y GitHub.">    </p:cNvPr>
          <p:cNvPicPr>
            <a:picLocks noChangeAspect="1"/>
          </p:cNvPicPr>
          <p:nvPr/>
        </p:nvPicPr>
        <p:blipFill>
          <a:blip r:embed="rId1"/>
          <a:stretch>
            <a:fillRect/>
          </a:stretch>
        </p:blipFill>
        <p:spPr>
          <a:xfrm>
            <a:off x="609600" y="876300"/>
            <a:ext cx="10972800" cy="5038725"/>
          </a:xfrm>
          <a:prstGeom prst="rect">
            <a:avLst/>
          </a:prstGeom>
        </p:spPr>
      </p:pic>
      <p:sp>
        <p:nvSpPr>
          <p:cNvPr id="7" name="Shape 3"/>
          <p:cNvSpPr/>
          <p:nvPr/>
        </p:nvSpPr>
        <p:spPr>
          <a:xfrm>
            <a:off x="457200" y="6019800"/>
            <a:ext cx="11277600" cy="228600"/>
          </a:xfrm>
          <a:prstGeom prst="roundRect">
            <a:avLst>
              <a:gd name="adj" fmla="val 24000"/>
            </a:avLst>
          </a:prstGeom>
          <a:solidFill>
            <a:srgbClr val="F3EAFC"/>
          </a:solidFill>
          <a:ln w="12700">
            <a:solidFill>
              <a:srgbClr val="333333">
                <a:alpha val="0"/>
              </a:srgbClr>
            </a:solidFill>
            <a:prstDash val="solid"/>
          </a:ln>
        </p:spPr>
      </p:sp>
      <p:sp>
        <p:nvSpPr>
          <p:cNvPr id="8" name="Text 4"/>
          <p:cNvSpPr txBox="1"/>
          <p:nvPr/>
        </p:nvSpPr>
        <p:spPr>
          <a:xfrm>
            <a:off x="609600" y="6038850"/>
            <a:ext cx="109728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Respaldo manual semanal: BD → copia local cifrada → Drive privado. Clave aparte; restauración por validar.</a:t>
            </a:r>
            <a:endParaRPr lang="es-PE" sz="1050" dirty="0"/>
          </a:p>
        </p:txBody>
      </p:sp>
      <p:sp>
        <p:nvSpPr>
          <p:cNvPr id="9"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10"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docs/diagramas/01-arquitectura.svg</a:t>
            </a:r>
            <a:endParaRPr lang="es-PE" sz="825" dirty="0"/>
          </a:p>
        </p:txBody>
      </p:sp>
      <p:sp>
        <p:nvSpPr>
          <p:cNvPr id="11"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04 / 24</a:t>
            </a:r>
            <a:endParaRPr lang="es-PE"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03 · INFORMACIÓN</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Datos, archivos y mensajes viven en lugares distintos</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Esta separación también define qué debe protegerse y recuperarse.</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01 · Arquitectura / 03 · Operación</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05 / 24</a:t>
            </a:r>
            <a:endParaRPr lang="es-PE" sz="1050" dirty="0"/>
          </a:p>
        </p:txBody>
      </p:sp>
      <p:sp>
        <p:nvSpPr>
          <p:cNvPr id="11" name="Shape 8"/>
          <p:cNvSpPr/>
          <p:nvPr/>
        </p:nvSpPr>
        <p:spPr>
          <a:xfrm>
            <a:off x="457200" y="2247900"/>
            <a:ext cx="5334000" cy="2743200"/>
          </a:xfrm>
          <a:prstGeom prst="roundRect">
            <a:avLst>
              <a:gd name="adj" fmla="val 2000"/>
            </a:avLst>
          </a:prstGeom>
          <a:solidFill>
            <a:srgbClr val="F3EAFC"/>
          </a:solidFill>
          <a:ln w="9525">
            <a:solidFill>
              <a:srgbClr val="6802C1"/>
            </a:solidFill>
            <a:prstDash val="solid"/>
          </a:ln>
        </p:spPr>
      </p:sp>
      <p:sp>
        <p:nvSpPr>
          <p:cNvPr id="12" name="Text 9"/>
          <p:cNvSpPr txBox="1"/>
          <p:nvPr/>
        </p:nvSpPr>
        <p:spPr>
          <a:xfrm>
            <a:off x="647700" y="2400300"/>
            <a:ext cx="4953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802C1"/>
                </a:solidFill>
                <a:latin typeface="Inter" pitchFamily="34" charset="0"/>
                <a:ea typeface="Inter" pitchFamily="34" charset="-122"/>
                <a:cs typeface="Inter" pitchFamily="34" charset="-120"/>
              </a:rPr>
              <a:t>REGISTROS</a:t>
            </a:r>
            <a:endParaRPr lang="es-PE" sz="900" dirty="0"/>
          </a:p>
        </p:txBody>
      </p:sp>
      <p:sp>
        <p:nvSpPr>
          <p:cNvPr id="13" name="Text 10"/>
          <p:cNvSpPr txBox="1"/>
          <p:nvPr/>
        </p:nvSpPr>
        <p:spPr>
          <a:xfrm>
            <a:off x="647700" y="2705100"/>
            <a:ext cx="4953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Base de datos · Neon</a:t>
            </a:r>
            <a:endParaRPr lang="es-PE" sz="1725" dirty="0"/>
          </a:p>
        </p:txBody>
      </p:sp>
      <p:sp>
        <p:nvSpPr>
          <p:cNvPr id="14" name="Text 11"/>
          <p:cNvSpPr txBox="1"/>
          <p:nvPr/>
        </p:nvSpPr>
        <p:spPr>
          <a:xfrm>
            <a:off x="647700" y="3162300"/>
            <a:ext cx="4953000" cy="17526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Pedidos, stock e importes</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Usuarios, permisos y configuración</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Historial, referencias y guía PDF</a:t>
            </a:r>
            <a:endParaRPr lang="es-PE" sz="1350" dirty="0"/>
          </a:p>
        </p:txBody>
      </p:sp>
      <p:sp>
        <p:nvSpPr>
          <p:cNvPr id="15" name="Shape 12"/>
          <p:cNvSpPr/>
          <p:nvPr/>
        </p:nvSpPr>
        <p:spPr>
          <a:xfrm>
            <a:off x="6172200" y="2247900"/>
            <a:ext cx="5562600" cy="1219200"/>
          </a:xfrm>
          <a:prstGeom prst="roundRect">
            <a:avLst>
              <a:gd name="adj" fmla="val 4500"/>
            </a:avLst>
          </a:prstGeom>
          <a:solidFill>
            <a:srgbClr val="F8F7FA"/>
          </a:solidFill>
          <a:ln w="9525">
            <a:solidFill>
              <a:srgbClr val="DDD7E5"/>
            </a:solidFill>
            <a:prstDash val="solid"/>
          </a:ln>
        </p:spPr>
      </p:sp>
      <p:sp>
        <p:nvSpPr>
          <p:cNvPr id="16" name="Text 13"/>
          <p:cNvSpPr txBox="1"/>
          <p:nvPr/>
        </p:nvSpPr>
        <p:spPr>
          <a:xfrm>
            <a:off x="6362700" y="2400300"/>
            <a:ext cx="51816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Drive · documentos</a:t>
            </a:r>
            <a:endParaRPr lang="es-PE" sz="1725" dirty="0"/>
          </a:p>
        </p:txBody>
      </p:sp>
      <p:sp>
        <p:nvSpPr>
          <p:cNvPr id="17" name="Text 14"/>
          <p:cNvSpPr txBox="1"/>
          <p:nvPr/>
        </p:nvSpPr>
        <p:spPr>
          <a:xfrm>
            <a:off x="6362700" y="2857500"/>
            <a:ext cx="5181600" cy="5334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Depósitos, PDF de venta y evidencia privada</a:t>
            </a:r>
            <a:endParaRPr lang="es-PE" sz="1350" dirty="0"/>
          </a:p>
        </p:txBody>
      </p:sp>
      <p:sp>
        <p:nvSpPr>
          <p:cNvPr id="18" name="Shape 15"/>
          <p:cNvSpPr/>
          <p:nvPr/>
        </p:nvSpPr>
        <p:spPr>
          <a:xfrm>
            <a:off x="6172200" y="3771900"/>
            <a:ext cx="5562600" cy="1219200"/>
          </a:xfrm>
          <a:prstGeom prst="roundRect">
            <a:avLst>
              <a:gd name="adj" fmla="val 4500"/>
            </a:avLst>
          </a:prstGeom>
          <a:solidFill>
            <a:srgbClr val="F8F7FA"/>
          </a:solidFill>
          <a:ln w="9525">
            <a:solidFill>
              <a:srgbClr val="DDD7E5"/>
            </a:solidFill>
            <a:prstDash val="solid"/>
          </a:ln>
        </p:spPr>
      </p:sp>
      <p:sp>
        <p:nvSpPr>
          <p:cNvPr id="19" name="Text 16"/>
          <p:cNvSpPr txBox="1"/>
          <p:nvPr/>
        </p:nvSpPr>
        <p:spPr>
          <a:xfrm>
            <a:off x="6362700" y="3924300"/>
            <a:ext cx="51816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Gmail · comunicaciones</a:t>
            </a:r>
            <a:endParaRPr lang="es-PE" sz="1725" dirty="0"/>
          </a:p>
        </p:txBody>
      </p:sp>
      <p:sp>
        <p:nvSpPr>
          <p:cNvPr id="20" name="Text 17"/>
          <p:cNvSpPr txBox="1"/>
          <p:nvPr/>
        </p:nvSpPr>
        <p:spPr>
          <a:xfrm>
            <a:off x="6362700" y="4381500"/>
            <a:ext cx="5181600" cy="5334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Conversaciones y avisos por audiencia</a:t>
            </a:r>
            <a:endParaRPr lang="es-PE" sz="1350" dirty="0"/>
          </a:p>
        </p:txBody>
      </p:sp>
      <p:sp>
        <p:nvSpPr>
          <p:cNvPr id="21" name="Shape 18"/>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2" name="Text 19"/>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Una copia de PostgreSQL no incluye los archivos de Drive ni los mensajes de Gmail.</a:t>
            </a:r>
            <a:endParaRPr lang="es-PE"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DATOS · VISTA GENERAL</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40 tablas organizan la operación</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Vista por áreas: el inventario completo describe cada tabla, sus campos y su protección.</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01 · Modelo de datos / src/db/schema.sql</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06 / 24</a:t>
            </a:r>
            <a:endParaRPr lang="es-PE" sz="1050" dirty="0"/>
          </a:p>
        </p:txBody>
      </p:sp>
      <p:sp>
        <p:nvSpPr>
          <p:cNvPr id="11" name="Shape 8"/>
          <p:cNvSpPr/>
          <p:nvPr/>
        </p:nvSpPr>
        <p:spPr>
          <a:xfrm>
            <a:off x="457200" y="2133600"/>
            <a:ext cx="3657600" cy="1447800"/>
          </a:xfrm>
          <a:prstGeom prst="roundRect">
            <a:avLst>
              <a:gd name="adj" fmla="val 3789"/>
            </a:avLst>
          </a:prstGeom>
          <a:solidFill>
            <a:srgbClr val="F8F7FA"/>
          </a:solidFill>
          <a:ln w="9525">
            <a:solidFill>
              <a:srgbClr val="DDD7E5"/>
            </a:solidFill>
            <a:prstDash val="solid"/>
          </a:ln>
        </p:spPr>
      </p:sp>
      <p:sp>
        <p:nvSpPr>
          <p:cNvPr id="12" name="Text 9"/>
          <p:cNvSpPr txBox="1"/>
          <p:nvPr/>
        </p:nvSpPr>
        <p:spPr>
          <a:xfrm>
            <a:off x="609600" y="2286000"/>
            <a:ext cx="3352800" cy="3048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25202D"/>
                </a:solidFill>
                <a:latin typeface="Inter" pitchFamily="34" charset="0"/>
                <a:ea typeface="Inter" pitchFamily="34" charset="-122"/>
                <a:cs typeface="Inter" pitchFamily="34" charset="-120"/>
              </a:rPr>
              <a:t>Identidad y acceso · 5</a:t>
            </a:r>
            <a:endParaRPr lang="es-PE" sz="1500" dirty="0"/>
          </a:p>
        </p:txBody>
      </p:sp>
      <p:sp>
        <p:nvSpPr>
          <p:cNvPr id="13" name="Text 10"/>
          <p:cNvSpPr txBox="1"/>
          <p:nvPr/>
        </p:nvSpPr>
        <p:spPr>
          <a:xfrm>
            <a:off x="609600" y="2743200"/>
            <a:ext cx="3352800" cy="7239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user · session · account</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verification · authorized_emails</a:t>
            </a:r>
            <a:endParaRPr lang="es-PE" sz="1350" dirty="0"/>
          </a:p>
        </p:txBody>
      </p:sp>
      <p:sp>
        <p:nvSpPr>
          <p:cNvPr id="14" name="Shape 11"/>
          <p:cNvSpPr/>
          <p:nvPr/>
        </p:nvSpPr>
        <p:spPr>
          <a:xfrm>
            <a:off x="4267200" y="2133600"/>
            <a:ext cx="3657600" cy="1447800"/>
          </a:xfrm>
          <a:prstGeom prst="roundRect">
            <a:avLst>
              <a:gd name="adj" fmla="val 3789"/>
            </a:avLst>
          </a:prstGeom>
          <a:solidFill>
            <a:srgbClr val="F8F7FA"/>
          </a:solidFill>
          <a:ln w="9525">
            <a:solidFill>
              <a:srgbClr val="DDD7E5"/>
            </a:solidFill>
            <a:prstDash val="solid"/>
          </a:ln>
        </p:spPr>
      </p:sp>
      <p:sp>
        <p:nvSpPr>
          <p:cNvPr id="15" name="Text 12"/>
          <p:cNvSpPr txBox="1"/>
          <p:nvPr/>
        </p:nvSpPr>
        <p:spPr>
          <a:xfrm>
            <a:off x="4419600" y="2286000"/>
            <a:ext cx="3352800" cy="3048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25202D"/>
                </a:solidFill>
                <a:latin typeface="Inter" pitchFamily="34" charset="0"/>
                <a:ea typeface="Inter" pitchFamily="34" charset="-122"/>
                <a:cs typeface="Inter" pitchFamily="34" charset="-120"/>
              </a:rPr>
              <a:t>Configuración · 5</a:t>
            </a:r>
            <a:endParaRPr lang="es-PE" sz="1500" dirty="0"/>
          </a:p>
        </p:txBody>
      </p:sp>
      <p:sp>
        <p:nvSpPr>
          <p:cNvPr id="16" name="Text 13"/>
          <p:cNvSpPr txBox="1"/>
          <p:nvPr/>
        </p:nvSpPr>
        <p:spPr>
          <a:xfrm>
            <a:off x="4419600" y="2743200"/>
            <a:ext cx="3352800" cy="7239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Campus y apoyo para recojo</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Cuentas, buzones y tarifas</a:t>
            </a:r>
            <a:endParaRPr lang="es-PE" sz="1350" dirty="0"/>
          </a:p>
        </p:txBody>
      </p:sp>
      <p:sp>
        <p:nvSpPr>
          <p:cNvPr id="17" name="Shape 14"/>
          <p:cNvSpPr/>
          <p:nvPr/>
        </p:nvSpPr>
        <p:spPr>
          <a:xfrm>
            <a:off x="8077200" y="2133600"/>
            <a:ext cx="3657600" cy="1447800"/>
          </a:xfrm>
          <a:prstGeom prst="roundRect">
            <a:avLst>
              <a:gd name="adj" fmla="val 3789"/>
            </a:avLst>
          </a:prstGeom>
          <a:solidFill>
            <a:srgbClr val="F8F7FA"/>
          </a:solidFill>
          <a:ln w="9525">
            <a:solidFill>
              <a:srgbClr val="DDD7E5"/>
            </a:solidFill>
            <a:prstDash val="solid"/>
          </a:ln>
        </p:spPr>
      </p:sp>
      <p:sp>
        <p:nvSpPr>
          <p:cNvPr id="18" name="Text 15"/>
          <p:cNvSpPr txBox="1"/>
          <p:nvPr/>
        </p:nvSpPr>
        <p:spPr>
          <a:xfrm>
            <a:off x="8229600" y="2286000"/>
            <a:ext cx="3352800" cy="3048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25202D"/>
                </a:solidFill>
                <a:latin typeface="Inter" pitchFamily="34" charset="0"/>
                <a:ea typeface="Inter" pitchFamily="34" charset="-122"/>
                <a:cs typeface="Inter" pitchFamily="34" charset="-120"/>
              </a:rPr>
              <a:t>Catálogo y descuentos · 5</a:t>
            </a:r>
            <a:endParaRPr lang="es-PE" sz="1500" dirty="0"/>
          </a:p>
        </p:txBody>
      </p:sp>
      <p:sp>
        <p:nvSpPr>
          <p:cNvPr id="19" name="Text 16"/>
          <p:cNvSpPr txBox="1"/>
          <p:nvPr/>
        </p:nvSpPr>
        <p:spPr>
          <a:xfrm>
            <a:off x="8229600" y="2743200"/>
            <a:ext cx="3352800" cy="7239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Libros, campañas y títulos</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Cupones y uso por pedido</a:t>
            </a:r>
            <a:endParaRPr lang="es-PE" sz="1350" dirty="0"/>
          </a:p>
        </p:txBody>
      </p:sp>
      <p:sp>
        <p:nvSpPr>
          <p:cNvPr id="20" name="Shape 17"/>
          <p:cNvSpPr/>
          <p:nvPr/>
        </p:nvSpPr>
        <p:spPr>
          <a:xfrm>
            <a:off x="457200" y="3810000"/>
            <a:ext cx="3657600" cy="1447800"/>
          </a:xfrm>
          <a:prstGeom prst="roundRect">
            <a:avLst>
              <a:gd name="adj" fmla="val 3789"/>
            </a:avLst>
          </a:prstGeom>
          <a:solidFill>
            <a:srgbClr val="F3EAFC"/>
          </a:solidFill>
          <a:ln w="9525">
            <a:solidFill>
              <a:srgbClr val="DDD7E5"/>
            </a:solidFill>
            <a:prstDash val="solid"/>
          </a:ln>
        </p:spPr>
      </p:sp>
      <p:sp>
        <p:nvSpPr>
          <p:cNvPr id="21" name="Text 18"/>
          <p:cNvSpPr txBox="1"/>
          <p:nvPr/>
        </p:nvSpPr>
        <p:spPr>
          <a:xfrm>
            <a:off x="609600" y="3962400"/>
            <a:ext cx="3352800" cy="3048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Pedidos, pagos y entrega · 7</a:t>
            </a:r>
            <a:endParaRPr lang="es-PE" sz="1500" dirty="0"/>
          </a:p>
        </p:txBody>
      </p:sp>
      <p:sp>
        <p:nvSpPr>
          <p:cNvPr id="22" name="Text 19"/>
          <p:cNvSpPr txBox="1"/>
          <p:nvPr/>
        </p:nvSpPr>
        <p:spPr>
          <a:xfrm>
            <a:off x="609600" y="4419600"/>
            <a:ext cx="3352800" cy="7239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Comprador, partidas y numeración</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Guías, depósitos y evidencia</a:t>
            </a:r>
            <a:endParaRPr lang="es-PE" sz="1350" dirty="0"/>
          </a:p>
        </p:txBody>
      </p:sp>
      <p:sp>
        <p:nvSpPr>
          <p:cNvPr id="23" name="Shape 20"/>
          <p:cNvSpPr/>
          <p:nvPr/>
        </p:nvSpPr>
        <p:spPr>
          <a:xfrm>
            <a:off x="4267200" y="3810000"/>
            <a:ext cx="3657600" cy="1447800"/>
          </a:xfrm>
          <a:prstGeom prst="roundRect">
            <a:avLst>
              <a:gd name="adj" fmla="val 3789"/>
            </a:avLst>
          </a:prstGeom>
          <a:solidFill>
            <a:srgbClr val="F8F7FA"/>
          </a:solidFill>
          <a:ln w="9525">
            <a:solidFill>
              <a:srgbClr val="DDD7E5"/>
            </a:solidFill>
            <a:prstDash val="solid"/>
          </a:ln>
        </p:spPr>
      </p:sp>
      <p:sp>
        <p:nvSpPr>
          <p:cNvPr id="24" name="Text 21"/>
          <p:cNvSpPr txBox="1"/>
          <p:nvPr/>
        </p:nvSpPr>
        <p:spPr>
          <a:xfrm>
            <a:off x="4419600" y="3962400"/>
            <a:ext cx="3352800" cy="3048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25202D"/>
                </a:solidFill>
                <a:latin typeface="Inter" pitchFamily="34" charset="0"/>
                <a:ea typeface="Inter" pitchFamily="34" charset="-122"/>
                <a:cs typeface="Inter" pitchFamily="34" charset="-120"/>
              </a:rPr>
              <a:t>Tesorería y documentos · 7</a:t>
            </a:r>
            <a:endParaRPr lang="es-PE" sz="1500" dirty="0"/>
          </a:p>
        </p:txBody>
      </p:sp>
      <p:sp>
        <p:nvSpPr>
          <p:cNvPr id="25" name="Text 22"/>
          <p:cNvSpPr txBox="1"/>
          <p:nvPr/>
        </p:nvSpPr>
        <p:spPr>
          <a:xfrm>
            <a:off x="4419600" y="4419600"/>
            <a:ext cx="3352800" cy="7239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Solicitudes, PDF y lotes</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Observaciones, adjuntos y notas</a:t>
            </a:r>
            <a:endParaRPr lang="es-PE" sz="1350" dirty="0"/>
          </a:p>
        </p:txBody>
      </p:sp>
      <p:sp>
        <p:nvSpPr>
          <p:cNvPr id="26" name="Shape 23"/>
          <p:cNvSpPr/>
          <p:nvPr/>
        </p:nvSpPr>
        <p:spPr>
          <a:xfrm>
            <a:off x="8077200" y="3810000"/>
            <a:ext cx="3657600" cy="1447800"/>
          </a:xfrm>
          <a:prstGeom prst="roundRect">
            <a:avLst>
              <a:gd name="adj" fmla="val 3789"/>
            </a:avLst>
          </a:prstGeom>
          <a:solidFill>
            <a:srgbClr val="F8F7FA"/>
          </a:solidFill>
          <a:ln w="9525">
            <a:solidFill>
              <a:srgbClr val="DDD7E5"/>
            </a:solidFill>
            <a:prstDash val="solid"/>
          </a:ln>
        </p:spPr>
      </p:sp>
      <p:sp>
        <p:nvSpPr>
          <p:cNvPr id="27" name="Text 24"/>
          <p:cNvSpPr txBox="1"/>
          <p:nvPr/>
        </p:nvSpPr>
        <p:spPr>
          <a:xfrm>
            <a:off x="8229600" y="3962400"/>
            <a:ext cx="3352800" cy="3048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25202D"/>
                </a:solidFill>
                <a:latin typeface="Inter" pitchFamily="34" charset="0"/>
                <a:ea typeface="Inter" pitchFamily="34" charset="-122"/>
                <a:cs typeface="Inter" pitchFamily="34" charset="-120"/>
              </a:rPr>
              <a:t>Historial y avisos · 6</a:t>
            </a:r>
            <a:endParaRPr lang="es-PE" sz="1500" dirty="0"/>
          </a:p>
        </p:txBody>
      </p:sp>
      <p:sp>
        <p:nvSpPr>
          <p:cNvPr id="28" name="Text 25"/>
          <p:cNvSpPr txBox="1"/>
          <p:nvPr/>
        </p:nvSpPr>
        <p:spPr>
          <a:xfrm>
            <a:off x="8229600" y="4419600"/>
            <a:ext cx="3352800" cy="7239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Actividad, administración</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Hilos y resultados de correo</a:t>
            </a:r>
            <a:endParaRPr lang="es-PE" sz="1350" dirty="0"/>
          </a:p>
        </p:txBody>
      </p:sp>
      <p:sp>
        <p:nvSpPr>
          <p:cNvPr id="29" name="Shape 26"/>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30" name="Text 27"/>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5 tablas de permisos y cuotas: ACL Drive, política, contadores HMAC e historial de límites.</a:t>
            </a:r>
            <a:endParaRPr lang="es-PE"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DATOS · PEDIDOS Y PAGOS</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El pedido une publicaciones y depósitos</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Relaciones seleccionadas: 5 tablas. Una línea une claves reales; 1 y N indican cardinalidad.</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01 · Modelo de datos / esquema local</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07 / 24</a:t>
            </a:r>
            <a:endParaRPr lang="es-PE" sz="1050" dirty="0"/>
          </a:p>
        </p:txBody>
      </p:sp>
      <p:sp>
        <p:nvSpPr>
          <p:cNvPr id="11" name="Shape 8"/>
          <p:cNvSpPr/>
          <p:nvPr/>
        </p:nvSpPr>
        <p:spPr>
          <a:xfrm>
            <a:off x="1981200" y="3657600"/>
            <a:ext cx="9525" cy="457200"/>
          </a:xfrm>
          <a:custGeom>
            <a:avLst/>
            <a:gdLst/>
            <a:ahLst/>
            <a:cxnLst/>
            <a:rect l="l" t="t" r="r" b="b"/>
            <a:pathLst>
              <a:path w="9525" h="457200">
                <a:moveTo>
                  <a:pt x="0" y="0"/>
                </a:moveTo>
                <a:lnTo>
                  <a:pt x="0" y="457200"/>
                </a:lnTo>
              </a:path>
            </a:pathLst>
          </a:custGeom>
          <a:noFill/>
          <a:ln w="19050">
            <a:solidFill>
              <a:srgbClr val="625C6D"/>
            </a:solidFill>
            <a:prstDash val="solid"/>
          </a:ln>
        </p:spPr>
      </p:sp>
      <p:sp>
        <p:nvSpPr>
          <p:cNvPr id="12" name="Shape 9"/>
          <p:cNvSpPr/>
          <p:nvPr/>
        </p:nvSpPr>
        <p:spPr>
          <a:xfrm>
            <a:off x="3505200" y="3657600"/>
            <a:ext cx="1524000" cy="1219200"/>
          </a:xfrm>
          <a:custGeom>
            <a:avLst/>
            <a:gdLst/>
            <a:ahLst/>
            <a:cxnLst/>
            <a:rect l="l" t="t" r="r" b="b"/>
            <a:pathLst>
              <a:path w="1524000" h="1219200">
                <a:moveTo>
                  <a:pt x="1524000" y="0"/>
                </a:moveTo>
                <a:lnTo>
                  <a:pt x="1524000" y="1143000"/>
                </a:lnTo>
                <a:quadBezTo>
                  <a:pt x="1524000" y="1219200"/>
                  <a:pt x="1447800" y="1219200"/>
                </a:quadBezTo>
                <a:lnTo>
                  <a:pt x="0" y="1219200"/>
                </a:lnTo>
              </a:path>
            </a:pathLst>
          </a:custGeom>
          <a:noFill/>
          <a:ln w="19050">
            <a:solidFill>
              <a:srgbClr val="625C6D"/>
            </a:solidFill>
            <a:prstDash val="solid"/>
          </a:ln>
        </p:spPr>
      </p:sp>
      <p:sp>
        <p:nvSpPr>
          <p:cNvPr id="13" name="Shape 10"/>
          <p:cNvSpPr/>
          <p:nvPr/>
        </p:nvSpPr>
        <p:spPr>
          <a:xfrm>
            <a:off x="7620000" y="2743200"/>
            <a:ext cx="1066800" cy="9525"/>
          </a:xfrm>
          <a:custGeom>
            <a:avLst/>
            <a:gdLst/>
            <a:ahLst/>
            <a:cxnLst/>
            <a:rect l="l" t="t" r="r" b="b"/>
            <a:pathLst>
              <a:path w="1066800" h="9525">
                <a:moveTo>
                  <a:pt x="0" y="0"/>
                </a:moveTo>
                <a:lnTo>
                  <a:pt x="1066800" y="0"/>
                </a:lnTo>
              </a:path>
            </a:pathLst>
          </a:custGeom>
          <a:noFill/>
          <a:ln w="19050">
            <a:solidFill>
              <a:srgbClr val="625C6D"/>
            </a:solidFill>
            <a:prstDash val="solid"/>
          </a:ln>
        </p:spPr>
      </p:sp>
      <p:sp>
        <p:nvSpPr>
          <p:cNvPr id="14" name="Shape 11"/>
          <p:cNvSpPr/>
          <p:nvPr/>
        </p:nvSpPr>
        <p:spPr>
          <a:xfrm>
            <a:off x="7620000" y="3352800"/>
            <a:ext cx="1066800" cy="1524000"/>
          </a:xfrm>
          <a:custGeom>
            <a:avLst/>
            <a:gdLst/>
            <a:ahLst/>
            <a:cxnLst/>
            <a:rect l="l" t="t" r="r" b="b"/>
            <a:pathLst>
              <a:path w="1066800" h="1524000">
                <a:moveTo>
                  <a:pt x="0" y="0"/>
                </a:moveTo>
                <a:lnTo>
                  <a:pt x="381000" y="0"/>
                </a:lnTo>
                <a:quadBezTo>
                  <a:pt x="457200" y="0"/>
                  <a:pt x="457200" y="76200"/>
                </a:quadBezTo>
                <a:lnTo>
                  <a:pt x="457200" y="1447800"/>
                </a:lnTo>
                <a:quadBezTo>
                  <a:pt x="457200" y="1524000"/>
                  <a:pt x="533400" y="1524000"/>
                </a:quadBezTo>
                <a:lnTo>
                  <a:pt x="1066800" y="1524000"/>
                </a:lnTo>
              </a:path>
            </a:pathLst>
          </a:custGeom>
          <a:noFill/>
          <a:ln w="19050">
            <a:solidFill>
              <a:srgbClr val="625C6D"/>
            </a:solidFill>
            <a:prstDash val="solid"/>
          </a:ln>
        </p:spPr>
      </p:sp>
      <p:sp>
        <p:nvSpPr>
          <p:cNvPr id="15" name="Shape 12"/>
          <p:cNvSpPr/>
          <p:nvPr/>
        </p:nvSpPr>
        <p:spPr>
          <a:xfrm>
            <a:off x="10210800" y="3657600"/>
            <a:ext cx="9525" cy="457200"/>
          </a:xfrm>
          <a:custGeom>
            <a:avLst/>
            <a:gdLst/>
            <a:ahLst/>
            <a:cxnLst/>
            <a:rect l="l" t="t" r="r" b="b"/>
            <a:pathLst>
              <a:path w="9525" h="457200">
                <a:moveTo>
                  <a:pt x="0" y="0"/>
                </a:moveTo>
                <a:lnTo>
                  <a:pt x="0" y="457200"/>
                </a:lnTo>
              </a:path>
            </a:pathLst>
          </a:custGeom>
          <a:noFill/>
          <a:ln w="19050">
            <a:solidFill>
              <a:srgbClr val="625C6D"/>
            </a:solidFill>
            <a:prstDash val="solid"/>
          </a:ln>
        </p:spPr>
      </p:sp>
      <p:sp>
        <p:nvSpPr>
          <p:cNvPr id="16" name="Shape 13"/>
          <p:cNvSpPr/>
          <p:nvPr/>
        </p:nvSpPr>
        <p:spPr>
          <a:xfrm>
            <a:off x="457200" y="2133600"/>
            <a:ext cx="3048000" cy="1524000"/>
          </a:xfrm>
          <a:prstGeom prst="roundRect">
            <a:avLst>
              <a:gd name="adj" fmla="val 3600"/>
            </a:avLst>
          </a:prstGeom>
          <a:solidFill>
            <a:srgbClr val="F8F7FA"/>
          </a:solidFill>
          <a:ln w="9525">
            <a:solidFill>
              <a:srgbClr val="DDD7E5"/>
            </a:solidFill>
            <a:prstDash val="solid"/>
          </a:ln>
        </p:spPr>
      </p:sp>
      <p:sp>
        <p:nvSpPr>
          <p:cNvPr id="17" name="Text 14"/>
          <p:cNvSpPr txBox="1"/>
          <p:nvPr/>
        </p:nvSpPr>
        <p:spPr>
          <a:xfrm>
            <a:off x="609600" y="2247900"/>
            <a:ext cx="27432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books</a:t>
            </a:r>
            <a:endParaRPr lang="es-PE" sz="1650" dirty="0"/>
          </a:p>
        </p:txBody>
      </p:sp>
      <p:sp>
        <p:nvSpPr>
          <p:cNvPr id="18" name="Shape 15"/>
          <p:cNvSpPr/>
          <p:nvPr/>
        </p:nvSpPr>
        <p:spPr>
          <a:xfrm>
            <a:off x="609600" y="2628900"/>
            <a:ext cx="2743200" cy="9525"/>
          </a:xfrm>
          <a:custGeom>
            <a:avLst/>
            <a:gdLst/>
            <a:ahLst/>
            <a:cxnLst/>
            <a:rect l="l" t="t" r="r" b="b"/>
            <a:pathLst>
              <a:path w="2743200" h="9525">
                <a:moveTo>
                  <a:pt x="0" y="0"/>
                </a:moveTo>
                <a:lnTo>
                  <a:pt x="2743200" y="0"/>
                </a:lnTo>
              </a:path>
            </a:pathLst>
          </a:custGeom>
          <a:noFill/>
          <a:ln w="19050">
            <a:solidFill>
              <a:srgbClr val="DDD7E5"/>
            </a:solidFill>
            <a:prstDash val="solid"/>
          </a:ln>
        </p:spPr>
      </p:sp>
      <p:sp>
        <p:nvSpPr>
          <p:cNvPr id="19" name="Text 16"/>
          <p:cNvSpPr txBox="1"/>
          <p:nvPr/>
        </p:nvSpPr>
        <p:spPr>
          <a:xfrm>
            <a:off x="609600" y="2667000"/>
            <a:ext cx="27432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id · clave primaria</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title · título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stock · existencias</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standard_price · tarifa</a:t>
            </a:r>
            <a:endParaRPr lang="es-PE" sz="1050" dirty="0"/>
          </a:p>
        </p:txBody>
      </p:sp>
      <p:sp>
        <p:nvSpPr>
          <p:cNvPr id="20" name="Text 17"/>
          <p:cNvSpPr txBox="1"/>
          <p:nvPr/>
        </p:nvSpPr>
        <p:spPr>
          <a:xfrm>
            <a:off x="609600" y="3467100"/>
            <a:ext cx="27432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+ 7 campos más</a:t>
            </a:r>
            <a:endParaRPr lang="es-PE" sz="825" dirty="0"/>
          </a:p>
        </p:txBody>
      </p:sp>
      <p:sp>
        <p:nvSpPr>
          <p:cNvPr id="21" name="Shape 18"/>
          <p:cNvSpPr/>
          <p:nvPr/>
        </p:nvSpPr>
        <p:spPr>
          <a:xfrm>
            <a:off x="4572000" y="2133600"/>
            <a:ext cx="3048000" cy="1524000"/>
          </a:xfrm>
          <a:prstGeom prst="roundRect">
            <a:avLst>
              <a:gd name="adj" fmla="val 3600"/>
            </a:avLst>
          </a:prstGeom>
          <a:solidFill>
            <a:srgbClr val="F3EAFC"/>
          </a:solidFill>
          <a:ln w="9525">
            <a:solidFill>
              <a:srgbClr val="6802C1"/>
            </a:solidFill>
            <a:prstDash val="solid"/>
          </a:ln>
        </p:spPr>
      </p:sp>
      <p:sp>
        <p:nvSpPr>
          <p:cNvPr id="22" name="Text 19"/>
          <p:cNvSpPr txBox="1"/>
          <p:nvPr/>
        </p:nvSpPr>
        <p:spPr>
          <a:xfrm>
            <a:off x="4724400" y="2247900"/>
            <a:ext cx="27432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6802C1"/>
                </a:solidFill>
                <a:latin typeface="Inter" pitchFamily="34" charset="0"/>
                <a:ea typeface="Inter" pitchFamily="34" charset="-122"/>
                <a:cs typeface="Inter" pitchFamily="34" charset="-120"/>
              </a:rPr>
              <a:t>orders</a:t>
            </a:r>
            <a:endParaRPr lang="es-PE" sz="1650" dirty="0"/>
          </a:p>
        </p:txBody>
      </p:sp>
      <p:sp>
        <p:nvSpPr>
          <p:cNvPr id="23" name="Shape 20"/>
          <p:cNvSpPr/>
          <p:nvPr/>
        </p:nvSpPr>
        <p:spPr>
          <a:xfrm>
            <a:off x="4724400" y="2628900"/>
            <a:ext cx="2743200" cy="9525"/>
          </a:xfrm>
          <a:custGeom>
            <a:avLst/>
            <a:gdLst/>
            <a:ahLst/>
            <a:cxnLst/>
            <a:rect l="l" t="t" r="r" b="b"/>
            <a:pathLst>
              <a:path w="2743200" h="9525">
                <a:moveTo>
                  <a:pt x="0" y="0"/>
                </a:moveTo>
                <a:lnTo>
                  <a:pt x="2743200" y="0"/>
                </a:lnTo>
              </a:path>
            </a:pathLst>
          </a:custGeom>
          <a:noFill/>
          <a:ln w="19050">
            <a:solidFill>
              <a:srgbClr val="DDD7E5"/>
            </a:solidFill>
            <a:prstDash val="solid"/>
          </a:ln>
        </p:spPr>
      </p:sp>
      <p:sp>
        <p:nvSpPr>
          <p:cNvPr id="24" name="Text 21"/>
          <p:cNvSpPr txBox="1"/>
          <p:nvPr/>
        </p:nvSpPr>
        <p:spPr>
          <a:xfrm>
            <a:off x="4724400" y="2667000"/>
            <a:ext cx="27432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id · clave primaria</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customer_name · comprador</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tracking_token · enlace privado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order_status · avance</a:t>
            </a:r>
            <a:endParaRPr lang="es-PE" sz="1050" dirty="0"/>
          </a:p>
        </p:txBody>
      </p:sp>
      <p:sp>
        <p:nvSpPr>
          <p:cNvPr id="25" name="Text 22"/>
          <p:cNvSpPr txBox="1"/>
          <p:nvPr/>
        </p:nvSpPr>
        <p:spPr>
          <a:xfrm>
            <a:off x="4724400" y="3467100"/>
            <a:ext cx="27432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+ 68 campos más</a:t>
            </a:r>
            <a:endParaRPr lang="es-PE" sz="825" dirty="0"/>
          </a:p>
        </p:txBody>
      </p:sp>
      <p:sp>
        <p:nvSpPr>
          <p:cNvPr id="26" name="Shape 23"/>
          <p:cNvSpPr/>
          <p:nvPr/>
        </p:nvSpPr>
        <p:spPr>
          <a:xfrm>
            <a:off x="8686800" y="2133600"/>
            <a:ext cx="3048000" cy="1524000"/>
          </a:xfrm>
          <a:prstGeom prst="roundRect">
            <a:avLst>
              <a:gd name="adj" fmla="val 3600"/>
            </a:avLst>
          </a:prstGeom>
          <a:solidFill>
            <a:srgbClr val="F8F7FA"/>
          </a:solidFill>
          <a:ln w="9525">
            <a:solidFill>
              <a:srgbClr val="DDD7E5"/>
            </a:solidFill>
            <a:prstDash val="solid"/>
          </a:ln>
        </p:spPr>
      </p:sp>
      <p:sp>
        <p:nvSpPr>
          <p:cNvPr id="27" name="Text 24"/>
          <p:cNvSpPr txBox="1"/>
          <p:nvPr/>
        </p:nvSpPr>
        <p:spPr>
          <a:xfrm>
            <a:off x="8839200" y="2247900"/>
            <a:ext cx="27432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payment_uploads</a:t>
            </a:r>
            <a:endParaRPr lang="es-PE" sz="1650" dirty="0"/>
          </a:p>
        </p:txBody>
      </p:sp>
      <p:sp>
        <p:nvSpPr>
          <p:cNvPr id="28" name="Shape 25"/>
          <p:cNvSpPr/>
          <p:nvPr/>
        </p:nvSpPr>
        <p:spPr>
          <a:xfrm>
            <a:off x="8839200" y="2628900"/>
            <a:ext cx="2743200" cy="9525"/>
          </a:xfrm>
          <a:custGeom>
            <a:avLst/>
            <a:gdLst/>
            <a:ahLst/>
            <a:cxnLst/>
            <a:rect l="l" t="t" r="r" b="b"/>
            <a:pathLst>
              <a:path w="2743200" h="9525">
                <a:moveTo>
                  <a:pt x="0" y="0"/>
                </a:moveTo>
                <a:lnTo>
                  <a:pt x="2743200" y="0"/>
                </a:lnTo>
              </a:path>
            </a:pathLst>
          </a:custGeom>
          <a:noFill/>
          <a:ln w="19050">
            <a:solidFill>
              <a:srgbClr val="DDD7E5"/>
            </a:solidFill>
            <a:prstDash val="solid"/>
          </a:ln>
        </p:spPr>
      </p:sp>
      <p:sp>
        <p:nvSpPr>
          <p:cNvPr id="29" name="Text 26"/>
          <p:cNvSpPr txBox="1"/>
          <p:nvPr/>
        </p:nvSpPr>
        <p:spPr>
          <a:xfrm>
            <a:off x="8839200" y="2667000"/>
            <a:ext cx="27432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id · intento durable</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order_id · pedido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content_hash · integridad</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drive_file_id · archivo</a:t>
            </a:r>
            <a:endParaRPr lang="es-PE" sz="1050" dirty="0"/>
          </a:p>
        </p:txBody>
      </p:sp>
      <p:sp>
        <p:nvSpPr>
          <p:cNvPr id="30" name="Text 27"/>
          <p:cNvSpPr txBox="1"/>
          <p:nvPr/>
        </p:nvSpPr>
        <p:spPr>
          <a:xfrm>
            <a:off x="8839200" y="3467100"/>
            <a:ext cx="27432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+ 5 campos más</a:t>
            </a:r>
            <a:endParaRPr lang="es-PE" sz="825" dirty="0"/>
          </a:p>
        </p:txBody>
      </p:sp>
      <p:sp>
        <p:nvSpPr>
          <p:cNvPr id="31" name="Shape 28"/>
          <p:cNvSpPr/>
          <p:nvPr/>
        </p:nvSpPr>
        <p:spPr>
          <a:xfrm>
            <a:off x="457200" y="4114800"/>
            <a:ext cx="3048000" cy="1524000"/>
          </a:xfrm>
          <a:prstGeom prst="roundRect">
            <a:avLst>
              <a:gd name="adj" fmla="val 3600"/>
            </a:avLst>
          </a:prstGeom>
          <a:solidFill>
            <a:srgbClr val="F8F7FA"/>
          </a:solidFill>
          <a:ln w="9525">
            <a:solidFill>
              <a:srgbClr val="DDD7E5"/>
            </a:solidFill>
            <a:prstDash val="solid"/>
          </a:ln>
        </p:spPr>
      </p:sp>
      <p:sp>
        <p:nvSpPr>
          <p:cNvPr id="32" name="Text 29"/>
          <p:cNvSpPr txBox="1"/>
          <p:nvPr/>
        </p:nvSpPr>
        <p:spPr>
          <a:xfrm>
            <a:off x="609600" y="4229100"/>
            <a:ext cx="27432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order_items</a:t>
            </a:r>
            <a:endParaRPr lang="es-PE" sz="1650" dirty="0"/>
          </a:p>
        </p:txBody>
      </p:sp>
      <p:sp>
        <p:nvSpPr>
          <p:cNvPr id="33" name="Shape 30"/>
          <p:cNvSpPr/>
          <p:nvPr/>
        </p:nvSpPr>
        <p:spPr>
          <a:xfrm>
            <a:off x="609600" y="4610100"/>
            <a:ext cx="2743200" cy="9525"/>
          </a:xfrm>
          <a:custGeom>
            <a:avLst/>
            <a:gdLst/>
            <a:ahLst/>
            <a:cxnLst/>
            <a:rect l="l" t="t" r="r" b="b"/>
            <a:pathLst>
              <a:path w="2743200" h="9525">
                <a:moveTo>
                  <a:pt x="0" y="0"/>
                </a:moveTo>
                <a:lnTo>
                  <a:pt x="2743200" y="0"/>
                </a:lnTo>
              </a:path>
            </a:pathLst>
          </a:custGeom>
          <a:noFill/>
          <a:ln w="19050">
            <a:solidFill>
              <a:srgbClr val="DDD7E5"/>
            </a:solidFill>
            <a:prstDash val="solid"/>
          </a:ln>
        </p:spPr>
      </p:sp>
      <p:sp>
        <p:nvSpPr>
          <p:cNvPr id="34" name="Text 31"/>
          <p:cNvSpPr txBox="1"/>
          <p:nvPr/>
        </p:nvSpPr>
        <p:spPr>
          <a:xfrm>
            <a:off x="609600" y="4648200"/>
            <a:ext cx="27432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order_id · pedido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book_id · publicación</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unit_price · precio histórico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quantity · cantidad</a:t>
            </a:r>
            <a:endParaRPr lang="es-PE" sz="1050" dirty="0"/>
          </a:p>
        </p:txBody>
      </p:sp>
      <p:sp>
        <p:nvSpPr>
          <p:cNvPr id="35" name="Text 32"/>
          <p:cNvSpPr txBox="1"/>
          <p:nvPr/>
        </p:nvSpPr>
        <p:spPr>
          <a:xfrm>
            <a:off x="609600" y="5448300"/>
            <a:ext cx="27432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+ 9 campos más</a:t>
            </a:r>
            <a:endParaRPr lang="es-PE" sz="825" dirty="0"/>
          </a:p>
        </p:txBody>
      </p:sp>
      <p:sp>
        <p:nvSpPr>
          <p:cNvPr id="36" name="Shape 33"/>
          <p:cNvSpPr/>
          <p:nvPr/>
        </p:nvSpPr>
        <p:spPr>
          <a:xfrm>
            <a:off x="8686800" y="4114800"/>
            <a:ext cx="3048000" cy="1524000"/>
          </a:xfrm>
          <a:prstGeom prst="roundRect">
            <a:avLst>
              <a:gd name="adj" fmla="val 3600"/>
            </a:avLst>
          </a:prstGeom>
          <a:solidFill>
            <a:srgbClr val="F8F7FA"/>
          </a:solidFill>
          <a:ln w="9525">
            <a:solidFill>
              <a:srgbClr val="DDD7E5"/>
            </a:solidFill>
            <a:prstDash val="solid"/>
          </a:ln>
        </p:spPr>
      </p:sp>
      <p:sp>
        <p:nvSpPr>
          <p:cNvPr id="37" name="Text 34"/>
          <p:cNvSpPr txBox="1"/>
          <p:nvPr/>
        </p:nvSpPr>
        <p:spPr>
          <a:xfrm>
            <a:off x="8839200" y="4229100"/>
            <a:ext cx="27432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payment_receipts</a:t>
            </a:r>
            <a:endParaRPr lang="es-PE" sz="1650" dirty="0"/>
          </a:p>
        </p:txBody>
      </p:sp>
      <p:sp>
        <p:nvSpPr>
          <p:cNvPr id="38" name="Shape 35"/>
          <p:cNvSpPr/>
          <p:nvPr/>
        </p:nvSpPr>
        <p:spPr>
          <a:xfrm>
            <a:off x="8839200" y="4610100"/>
            <a:ext cx="2743200" cy="9525"/>
          </a:xfrm>
          <a:custGeom>
            <a:avLst/>
            <a:gdLst/>
            <a:ahLst/>
            <a:cxnLst/>
            <a:rect l="l" t="t" r="r" b="b"/>
            <a:pathLst>
              <a:path w="2743200" h="9525">
                <a:moveTo>
                  <a:pt x="0" y="0"/>
                </a:moveTo>
                <a:lnTo>
                  <a:pt x="2743200" y="0"/>
                </a:lnTo>
              </a:path>
            </a:pathLst>
          </a:custGeom>
          <a:noFill/>
          <a:ln w="19050">
            <a:solidFill>
              <a:srgbClr val="DDD7E5"/>
            </a:solidFill>
            <a:prstDash val="solid"/>
          </a:ln>
        </p:spPr>
      </p:sp>
      <p:sp>
        <p:nvSpPr>
          <p:cNvPr id="39" name="Text 36"/>
          <p:cNvSpPr txBox="1"/>
          <p:nvPr/>
        </p:nvSpPr>
        <p:spPr>
          <a:xfrm>
            <a:off x="8839200" y="4648200"/>
            <a:ext cx="27432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id · recibo recibido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order_id · pedido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upload_id · intento único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publisher_imprint · sello</a:t>
            </a:r>
            <a:endParaRPr lang="es-PE" sz="1050" dirty="0"/>
          </a:p>
        </p:txBody>
      </p:sp>
      <p:sp>
        <p:nvSpPr>
          <p:cNvPr id="40" name="Text 37"/>
          <p:cNvSpPr txBox="1"/>
          <p:nvPr/>
        </p:nvSpPr>
        <p:spPr>
          <a:xfrm>
            <a:off x="8839200" y="5448300"/>
            <a:ext cx="27432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+ 4 campos más</a:t>
            </a:r>
            <a:endParaRPr lang="es-PE" sz="825" dirty="0"/>
          </a:p>
        </p:txBody>
      </p:sp>
      <p:sp>
        <p:nvSpPr>
          <p:cNvPr id="41" name="Text 38"/>
          <p:cNvSpPr txBox="1"/>
          <p:nvPr/>
        </p:nvSpPr>
        <p:spPr>
          <a:xfrm>
            <a:off x="2095500" y="36957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42" name="Text 39"/>
          <p:cNvSpPr txBox="1"/>
          <p:nvPr/>
        </p:nvSpPr>
        <p:spPr>
          <a:xfrm>
            <a:off x="2095500" y="38862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N</a:t>
            </a:r>
            <a:endParaRPr lang="es-PE" sz="1050" dirty="0"/>
          </a:p>
        </p:txBody>
      </p:sp>
      <p:sp>
        <p:nvSpPr>
          <p:cNvPr id="43" name="Text 40"/>
          <p:cNvSpPr txBox="1"/>
          <p:nvPr/>
        </p:nvSpPr>
        <p:spPr>
          <a:xfrm>
            <a:off x="5143500" y="36957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44" name="Text 41"/>
          <p:cNvSpPr txBox="1"/>
          <p:nvPr/>
        </p:nvSpPr>
        <p:spPr>
          <a:xfrm>
            <a:off x="3581400" y="49149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N</a:t>
            </a:r>
            <a:endParaRPr lang="es-PE" sz="1050" dirty="0"/>
          </a:p>
        </p:txBody>
      </p:sp>
      <p:sp>
        <p:nvSpPr>
          <p:cNvPr id="45" name="Text 42"/>
          <p:cNvSpPr txBox="1"/>
          <p:nvPr/>
        </p:nvSpPr>
        <p:spPr>
          <a:xfrm>
            <a:off x="7696200" y="24765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46" name="Text 43"/>
          <p:cNvSpPr txBox="1"/>
          <p:nvPr/>
        </p:nvSpPr>
        <p:spPr>
          <a:xfrm>
            <a:off x="8305800" y="24765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N</a:t>
            </a:r>
            <a:endParaRPr lang="es-PE" sz="1050" dirty="0"/>
          </a:p>
        </p:txBody>
      </p:sp>
      <p:sp>
        <p:nvSpPr>
          <p:cNvPr id="47" name="Text 44"/>
          <p:cNvSpPr txBox="1"/>
          <p:nvPr/>
        </p:nvSpPr>
        <p:spPr>
          <a:xfrm>
            <a:off x="7696200" y="31242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48" name="Text 45"/>
          <p:cNvSpPr txBox="1"/>
          <p:nvPr/>
        </p:nvSpPr>
        <p:spPr>
          <a:xfrm>
            <a:off x="8305800" y="49530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N</a:t>
            </a:r>
            <a:endParaRPr lang="es-PE" sz="1050" dirty="0"/>
          </a:p>
        </p:txBody>
      </p:sp>
      <p:sp>
        <p:nvSpPr>
          <p:cNvPr id="49" name="Text 46"/>
          <p:cNvSpPr txBox="1"/>
          <p:nvPr/>
        </p:nvSpPr>
        <p:spPr>
          <a:xfrm>
            <a:off x="10325100" y="36957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50" name="Text 47"/>
          <p:cNvSpPr txBox="1"/>
          <p:nvPr/>
        </p:nvSpPr>
        <p:spPr>
          <a:xfrm>
            <a:off x="10325100" y="38862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0..1</a:t>
            </a:r>
            <a:endParaRPr lang="es-PE" sz="1050" dirty="0"/>
          </a:p>
        </p:txBody>
      </p:sp>
      <p:sp>
        <p:nvSpPr>
          <p:cNvPr id="51" name="Text 48"/>
          <p:cNvSpPr txBox="1"/>
          <p:nvPr/>
        </p:nvSpPr>
        <p:spPr>
          <a:xfrm>
            <a:off x="457200" y="5867400"/>
            <a:ext cx="11277600" cy="304800"/>
          </a:xfrm>
          <a:prstGeom prst="rect">
            <a:avLst/>
          </a:prstGeom>
          <a:noFill/>
          <a:ln/>
        </p:spPr>
        <p:txBody>
          <a:bodyPr wrap="none" lIns="0" tIns="0" rIns="0" bIns="0" rtlCol="0" anchor="t"/>
          <a:lstStyle/>
          <a:p>
            <a:pPr algn="l" indent="0" marL="0">
              <a:lnSpc>
                <a:spcPct val="122000"/>
              </a:lnSpc>
              <a:buNone/>
            </a:pPr>
            <a:r>
              <a:rPr lang="es-PE" altLang="en-US" sz="1275" dirty="0">
                <a:solidFill>
                  <a:srgbClr val="625C6D"/>
                </a:solidFill>
                <a:latin typeface="Inter" pitchFamily="34" charset="0"/>
                <a:ea typeface="Inter" pitchFamily="34" charset="-122"/>
                <a:cs typeface="Inter" pitchFamily="34" charset="-120"/>
              </a:rPr>
              <a:t>Se muestran campos clave; las demás columnas y relaciones permanecen en el esquema.</a:t>
            </a:r>
            <a:endParaRPr lang="es-PE" sz="12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DATOS · EMISIÓN</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Cada solicitud conserva sus documentos y correcciones</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Relaciones seleccionadas: 5 tablas. El lote agrupa los PDF que recibe el comprador.</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01 · Modelo de datos / esquema local</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08 / 24</a:t>
            </a:r>
            <a:endParaRPr lang="es-PE" sz="1050" dirty="0"/>
          </a:p>
        </p:txBody>
      </p:sp>
      <p:sp>
        <p:nvSpPr>
          <p:cNvPr id="11" name="Shape 8"/>
          <p:cNvSpPr/>
          <p:nvPr/>
        </p:nvSpPr>
        <p:spPr>
          <a:xfrm>
            <a:off x="3352800" y="2895600"/>
            <a:ext cx="1219200" cy="9525"/>
          </a:xfrm>
          <a:custGeom>
            <a:avLst/>
            <a:gdLst/>
            <a:ahLst/>
            <a:cxnLst/>
            <a:rect l="l" t="t" r="r" b="b"/>
            <a:pathLst>
              <a:path w="1219200" h="9525">
                <a:moveTo>
                  <a:pt x="0" y="0"/>
                </a:moveTo>
                <a:lnTo>
                  <a:pt x="1219200" y="0"/>
                </a:lnTo>
              </a:path>
            </a:pathLst>
          </a:custGeom>
          <a:noFill/>
          <a:ln w="19050">
            <a:solidFill>
              <a:srgbClr val="625C6D"/>
            </a:solidFill>
            <a:prstDash val="solid"/>
          </a:ln>
        </p:spPr>
      </p:sp>
      <p:sp>
        <p:nvSpPr>
          <p:cNvPr id="12" name="Shape 9"/>
          <p:cNvSpPr/>
          <p:nvPr/>
        </p:nvSpPr>
        <p:spPr>
          <a:xfrm>
            <a:off x="7467600" y="2667000"/>
            <a:ext cx="1219200" cy="9525"/>
          </a:xfrm>
          <a:custGeom>
            <a:avLst/>
            <a:gdLst/>
            <a:ahLst/>
            <a:cxnLst/>
            <a:rect l="l" t="t" r="r" b="b"/>
            <a:pathLst>
              <a:path w="1219200" h="9525">
                <a:moveTo>
                  <a:pt x="0" y="0"/>
                </a:moveTo>
                <a:lnTo>
                  <a:pt x="1219200" y="0"/>
                </a:lnTo>
              </a:path>
            </a:pathLst>
          </a:custGeom>
          <a:noFill/>
          <a:ln w="19050">
            <a:solidFill>
              <a:srgbClr val="625C6D"/>
            </a:solidFill>
            <a:prstDash val="solid"/>
          </a:ln>
        </p:spPr>
      </p:sp>
      <p:sp>
        <p:nvSpPr>
          <p:cNvPr id="13" name="Shape 10"/>
          <p:cNvSpPr/>
          <p:nvPr/>
        </p:nvSpPr>
        <p:spPr>
          <a:xfrm>
            <a:off x="1905000" y="3657600"/>
            <a:ext cx="9525" cy="609600"/>
          </a:xfrm>
          <a:custGeom>
            <a:avLst/>
            <a:gdLst/>
            <a:ahLst/>
            <a:cxnLst/>
            <a:rect l="l" t="t" r="r" b="b"/>
            <a:pathLst>
              <a:path w="9525" h="609600">
                <a:moveTo>
                  <a:pt x="0" y="0"/>
                </a:moveTo>
                <a:lnTo>
                  <a:pt x="0" y="609600"/>
                </a:lnTo>
              </a:path>
            </a:pathLst>
          </a:custGeom>
          <a:noFill/>
          <a:ln w="19050">
            <a:solidFill>
              <a:srgbClr val="625C6D"/>
            </a:solidFill>
            <a:prstDash val="solid"/>
          </a:ln>
        </p:spPr>
      </p:sp>
      <p:sp>
        <p:nvSpPr>
          <p:cNvPr id="14" name="Shape 11"/>
          <p:cNvSpPr/>
          <p:nvPr/>
        </p:nvSpPr>
        <p:spPr>
          <a:xfrm>
            <a:off x="7162800" y="3657600"/>
            <a:ext cx="1524000" cy="1371600"/>
          </a:xfrm>
          <a:custGeom>
            <a:avLst/>
            <a:gdLst/>
            <a:ahLst/>
            <a:cxnLst/>
            <a:rect l="l" t="t" r="r" b="b"/>
            <a:pathLst>
              <a:path w="1524000" h="1371600">
                <a:moveTo>
                  <a:pt x="0" y="0"/>
                </a:moveTo>
                <a:lnTo>
                  <a:pt x="0" y="152400"/>
                </a:lnTo>
                <a:quadBezTo>
                  <a:pt x="0" y="228600"/>
                  <a:pt x="76200" y="228600"/>
                </a:quadBezTo>
                <a:lnTo>
                  <a:pt x="914400" y="228600"/>
                </a:lnTo>
                <a:quadBezTo>
                  <a:pt x="990600" y="228600"/>
                  <a:pt x="990600" y="304800"/>
                </a:quadBezTo>
                <a:lnTo>
                  <a:pt x="990600" y="1295400"/>
                </a:lnTo>
                <a:quadBezTo>
                  <a:pt x="990600" y="1371600"/>
                  <a:pt x="1066800" y="1371600"/>
                </a:quadBezTo>
                <a:lnTo>
                  <a:pt x="1524000" y="1371600"/>
                </a:lnTo>
              </a:path>
            </a:pathLst>
          </a:custGeom>
          <a:noFill/>
          <a:ln w="19050">
            <a:solidFill>
              <a:srgbClr val="625C6D"/>
            </a:solidFill>
            <a:prstDash val="solid"/>
          </a:ln>
        </p:spPr>
      </p:sp>
      <p:sp>
        <p:nvSpPr>
          <p:cNvPr id="15" name="Shape 12"/>
          <p:cNvSpPr/>
          <p:nvPr/>
        </p:nvSpPr>
        <p:spPr>
          <a:xfrm>
            <a:off x="457200" y="2133600"/>
            <a:ext cx="2895600" cy="1524000"/>
          </a:xfrm>
          <a:prstGeom prst="roundRect">
            <a:avLst>
              <a:gd name="adj" fmla="val 3600"/>
            </a:avLst>
          </a:prstGeom>
          <a:solidFill>
            <a:srgbClr val="F8F7FA"/>
          </a:solidFill>
          <a:ln w="9525">
            <a:solidFill>
              <a:srgbClr val="DDD7E5"/>
            </a:solidFill>
            <a:prstDash val="solid"/>
          </a:ln>
        </p:spPr>
      </p:sp>
      <p:sp>
        <p:nvSpPr>
          <p:cNvPr id="16" name="Text 13"/>
          <p:cNvSpPr txBox="1"/>
          <p:nvPr/>
        </p:nvSpPr>
        <p:spPr>
          <a:xfrm>
            <a:off x="609600" y="2247900"/>
            <a:ext cx="25908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orders</a:t>
            </a:r>
            <a:endParaRPr lang="es-PE" sz="1650" dirty="0"/>
          </a:p>
        </p:txBody>
      </p:sp>
      <p:sp>
        <p:nvSpPr>
          <p:cNvPr id="17" name="Shape 14"/>
          <p:cNvSpPr/>
          <p:nvPr/>
        </p:nvSpPr>
        <p:spPr>
          <a:xfrm>
            <a:off x="609600" y="2628900"/>
            <a:ext cx="2590800" cy="9525"/>
          </a:xfrm>
          <a:custGeom>
            <a:avLst/>
            <a:gdLst/>
            <a:ahLst/>
            <a:cxnLst/>
            <a:rect l="l" t="t" r="r" b="b"/>
            <a:pathLst>
              <a:path w="2590800" h="9525">
                <a:moveTo>
                  <a:pt x="0" y="0"/>
                </a:moveTo>
                <a:lnTo>
                  <a:pt x="2590800" y="0"/>
                </a:lnTo>
              </a:path>
            </a:pathLst>
          </a:custGeom>
          <a:noFill/>
          <a:ln w="19050">
            <a:solidFill>
              <a:srgbClr val="DDD7E5"/>
            </a:solidFill>
            <a:prstDash val="solid"/>
          </a:ln>
        </p:spPr>
      </p:sp>
      <p:sp>
        <p:nvSpPr>
          <p:cNvPr id="18" name="Text 15"/>
          <p:cNvSpPr txBox="1"/>
          <p:nvPr/>
        </p:nvSpPr>
        <p:spPr>
          <a:xfrm>
            <a:off x="609600" y="2667000"/>
            <a:ext cx="25908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id · pedido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order_number · número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order_type · único / mixto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total · importe</a:t>
            </a:r>
            <a:endParaRPr lang="es-PE" sz="1050" dirty="0"/>
          </a:p>
        </p:txBody>
      </p:sp>
      <p:sp>
        <p:nvSpPr>
          <p:cNvPr id="19" name="Text 16"/>
          <p:cNvSpPr txBox="1"/>
          <p:nvPr/>
        </p:nvSpPr>
        <p:spPr>
          <a:xfrm>
            <a:off x="609600" y="3467100"/>
            <a:ext cx="25908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+ 68 campos más</a:t>
            </a:r>
            <a:endParaRPr lang="es-PE" sz="825" dirty="0"/>
          </a:p>
        </p:txBody>
      </p:sp>
      <p:sp>
        <p:nvSpPr>
          <p:cNvPr id="20" name="Shape 17"/>
          <p:cNvSpPr/>
          <p:nvPr/>
        </p:nvSpPr>
        <p:spPr>
          <a:xfrm>
            <a:off x="4572000" y="2133600"/>
            <a:ext cx="2895600" cy="1524000"/>
          </a:xfrm>
          <a:prstGeom prst="roundRect">
            <a:avLst>
              <a:gd name="adj" fmla="val 3600"/>
            </a:avLst>
          </a:prstGeom>
          <a:solidFill>
            <a:srgbClr val="F3EAFC"/>
          </a:solidFill>
          <a:ln w="9525">
            <a:solidFill>
              <a:srgbClr val="6802C1"/>
            </a:solidFill>
            <a:prstDash val="solid"/>
          </a:ln>
        </p:spPr>
      </p:sp>
      <p:sp>
        <p:nvSpPr>
          <p:cNvPr id="21" name="Text 18"/>
          <p:cNvSpPr txBox="1"/>
          <p:nvPr/>
        </p:nvSpPr>
        <p:spPr>
          <a:xfrm>
            <a:off x="4724400" y="2247900"/>
            <a:ext cx="25908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6802C1"/>
                </a:solidFill>
                <a:latin typeface="Inter" pitchFamily="34" charset="0"/>
                <a:ea typeface="Inter" pitchFamily="34" charset="-122"/>
                <a:cs typeface="Inter" pitchFamily="34" charset="-120"/>
              </a:rPr>
              <a:t>caja_requests</a:t>
            </a:r>
            <a:endParaRPr lang="es-PE" sz="1650" dirty="0"/>
          </a:p>
        </p:txBody>
      </p:sp>
      <p:sp>
        <p:nvSpPr>
          <p:cNvPr id="22" name="Shape 19"/>
          <p:cNvSpPr/>
          <p:nvPr/>
        </p:nvSpPr>
        <p:spPr>
          <a:xfrm>
            <a:off x="4724400" y="2628900"/>
            <a:ext cx="2590800" cy="9525"/>
          </a:xfrm>
          <a:custGeom>
            <a:avLst/>
            <a:gdLst/>
            <a:ahLst/>
            <a:cxnLst/>
            <a:rect l="l" t="t" r="r" b="b"/>
            <a:pathLst>
              <a:path w="2590800" h="9525">
                <a:moveTo>
                  <a:pt x="0" y="0"/>
                </a:moveTo>
                <a:lnTo>
                  <a:pt x="2590800" y="0"/>
                </a:lnTo>
              </a:path>
            </a:pathLst>
          </a:custGeom>
          <a:noFill/>
          <a:ln w="19050">
            <a:solidFill>
              <a:srgbClr val="DDD7E5"/>
            </a:solidFill>
            <a:prstDash val="solid"/>
          </a:ln>
        </p:spPr>
      </p:sp>
      <p:sp>
        <p:nvSpPr>
          <p:cNvPr id="23" name="Text 20"/>
          <p:cNvSpPr txBox="1"/>
          <p:nvPr/>
        </p:nvSpPr>
        <p:spPr>
          <a:xfrm>
            <a:off x="4724400" y="2667000"/>
            <a:ext cx="25908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id · solicitud</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order_id · pedido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publisher_imprint · unidad</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status · atención</a:t>
            </a:r>
            <a:endParaRPr lang="es-PE" sz="1050" dirty="0"/>
          </a:p>
        </p:txBody>
      </p:sp>
      <p:sp>
        <p:nvSpPr>
          <p:cNvPr id="24" name="Text 21"/>
          <p:cNvSpPr txBox="1"/>
          <p:nvPr/>
        </p:nvSpPr>
        <p:spPr>
          <a:xfrm>
            <a:off x="4724400" y="3467100"/>
            <a:ext cx="25908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+ 19 campos más</a:t>
            </a:r>
            <a:endParaRPr lang="es-PE" sz="825" dirty="0"/>
          </a:p>
        </p:txBody>
      </p:sp>
      <p:sp>
        <p:nvSpPr>
          <p:cNvPr id="25" name="Shape 22"/>
          <p:cNvSpPr/>
          <p:nvPr/>
        </p:nvSpPr>
        <p:spPr>
          <a:xfrm>
            <a:off x="8686800" y="2133600"/>
            <a:ext cx="3048000" cy="1524000"/>
          </a:xfrm>
          <a:prstGeom prst="roundRect">
            <a:avLst>
              <a:gd name="adj" fmla="val 3600"/>
            </a:avLst>
          </a:prstGeom>
          <a:solidFill>
            <a:srgbClr val="F8F7FA"/>
          </a:solidFill>
          <a:ln w="9525">
            <a:solidFill>
              <a:srgbClr val="DDD7E5"/>
            </a:solidFill>
            <a:prstDash val="solid"/>
          </a:ln>
        </p:spPr>
      </p:sp>
      <p:sp>
        <p:nvSpPr>
          <p:cNvPr id="26" name="Text 23"/>
          <p:cNvSpPr txBox="1"/>
          <p:nvPr/>
        </p:nvSpPr>
        <p:spPr>
          <a:xfrm>
            <a:off x="8839200" y="2247900"/>
            <a:ext cx="27432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sale_documents</a:t>
            </a:r>
            <a:endParaRPr lang="es-PE" sz="1650" dirty="0"/>
          </a:p>
        </p:txBody>
      </p:sp>
      <p:sp>
        <p:nvSpPr>
          <p:cNvPr id="27" name="Shape 24"/>
          <p:cNvSpPr/>
          <p:nvPr/>
        </p:nvSpPr>
        <p:spPr>
          <a:xfrm>
            <a:off x="8839200" y="2628900"/>
            <a:ext cx="2743200" cy="9525"/>
          </a:xfrm>
          <a:custGeom>
            <a:avLst/>
            <a:gdLst/>
            <a:ahLst/>
            <a:cxnLst/>
            <a:rect l="l" t="t" r="r" b="b"/>
            <a:pathLst>
              <a:path w="2743200" h="9525">
                <a:moveTo>
                  <a:pt x="0" y="0"/>
                </a:moveTo>
                <a:lnTo>
                  <a:pt x="2743200" y="0"/>
                </a:lnTo>
              </a:path>
            </a:pathLst>
          </a:custGeom>
          <a:noFill/>
          <a:ln w="19050">
            <a:solidFill>
              <a:srgbClr val="DDD7E5"/>
            </a:solidFill>
            <a:prstDash val="solid"/>
          </a:ln>
        </p:spPr>
      </p:sp>
      <p:sp>
        <p:nvSpPr>
          <p:cNvPr id="28" name="Text 25"/>
          <p:cNvSpPr txBox="1"/>
          <p:nvPr/>
        </p:nvSpPr>
        <p:spPr>
          <a:xfrm>
            <a:off x="8839200" y="2667000"/>
            <a:ext cx="27432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id · revisión PDF</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request_id · solicitud</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cycle · ciclo de corrección</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drive_file_id · archivo</a:t>
            </a:r>
            <a:endParaRPr lang="es-PE" sz="1050" dirty="0"/>
          </a:p>
        </p:txBody>
      </p:sp>
      <p:sp>
        <p:nvSpPr>
          <p:cNvPr id="29" name="Text 26"/>
          <p:cNvSpPr txBox="1"/>
          <p:nvPr/>
        </p:nvSpPr>
        <p:spPr>
          <a:xfrm>
            <a:off x="8839200" y="3467100"/>
            <a:ext cx="27432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+ 7 campos más</a:t>
            </a:r>
            <a:endParaRPr lang="es-PE" sz="825" dirty="0"/>
          </a:p>
        </p:txBody>
      </p:sp>
      <p:sp>
        <p:nvSpPr>
          <p:cNvPr id="30" name="Shape 27"/>
          <p:cNvSpPr/>
          <p:nvPr/>
        </p:nvSpPr>
        <p:spPr>
          <a:xfrm>
            <a:off x="457200" y="4267200"/>
            <a:ext cx="3505200" cy="1524000"/>
          </a:xfrm>
          <a:prstGeom prst="roundRect">
            <a:avLst>
              <a:gd name="adj" fmla="val 3600"/>
            </a:avLst>
          </a:prstGeom>
          <a:solidFill>
            <a:srgbClr val="F8F7FA"/>
          </a:solidFill>
          <a:ln w="9525">
            <a:solidFill>
              <a:srgbClr val="DDD7E5"/>
            </a:solidFill>
            <a:prstDash val="solid"/>
          </a:ln>
        </p:spPr>
      </p:sp>
      <p:sp>
        <p:nvSpPr>
          <p:cNvPr id="31" name="Text 28"/>
          <p:cNvSpPr txBox="1"/>
          <p:nvPr/>
        </p:nvSpPr>
        <p:spPr>
          <a:xfrm>
            <a:off x="609600" y="4381500"/>
            <a:ext cx="32004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sale_document_batches</a:t>
            </a:r>
            <a:endParaRPr lang="es-PE" sz="1650" dirty="0"/>
          </a:p>
        </p:txBody>
      </p:sp>
      <p:sp>
        <p:nvSpPr>
          <p:cNvPr id="32" name="Shape 29"/>
          <p:cNvSpPr/>
          <p:nvPr/>
        </p:nvSpPr>
        <p:spPr>
          <a:xfrm>
            <a:off x="609600" y="4762500"/>
            <a:ext cx="3200400" cy="9525"/>
          </a:xfrm>
          <a:custGeom>
            <a:avLst/>
            <a:gdLst/>
            <a:ahLst/>
            <a:cxnLst/>
            <a:rect l="l" t="t" r="r" b="b"/>
            <a:pathLst>
              <a:path w="3200400" h="9525">
                <a:moveTo>
                  <a:pt x="0" y="0"/>
                </a:moveTo>
                <a:lnTo>
                  <a:pt x="3200400" y="0"/>
                </a:lnTo>
              </a:path>
            </a:pathLst>
          </a:custGeom>
          <a:noFill/>
          <a:ln w="19050">
            <a:solidFill>
              <a:srgbClr val="DDD7E5"/>
            </a:solidFill>
            <a:prstDash val="solid"/>
          </a:ln>
        </p:spPr>
      </p:sp>
      <p:sp>
        <p:nvSpPr>
          <p:cNvPr id="33" name="Text 30"/>
          <p:cNvSpPr txBox="1"/>
          <p:nvPr/>
        </p:nvSpPr>
        <p:spPr>
          <a:xfrm>
            <a:off x="609600" y="4800600"/>
            <a:ext cx="32004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id · lote</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order_id · pedido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document_ids · lista JSON</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correction · corrección</a:t>
            </a:r>
            <a:endParaRPr lang="es-PE" sz="1050" dirty="0"/>
          </a:p>
        </p:txBody>
      </p:sp>
      <p:sp>
        <p:nvSpPr>
          <p:cNvPr id="34" name="Text 31"/>
          <p:cNvSpPr txBox="1"/>
          <p:nvPr/>
        </p:nvSpPr>
        <p:spPr>
          <a:xfrm>
            <a:off x="609600" y="5600700"/>
            <a:ext cx="32004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+ 2 campos más</a:t>
            </a:r>
            <a:endParaRPr lang="es-PE" sz="825" dirty="0"/>
          </a:p>
        </p:txBody>
      </p:sp>
      <p:sp>
        <p:nvSpPr>
          <p:cNvPr id="35" name="Shape 32"/>
          <p:cNvSpPr/>
          <p:nvPr/>
        </p:nvSpPr>
        <p:spPr>
          <a:xfrm>
            <a:off x="8686800" y="4267200"/>
            <a:ext cx="3048000" cy="1524000"/>
          </a:xfrm>
          <a:prstGeom prst="roundRect">
            <a:avLst>
              <a:gd name="adj" fmla="val 3600"/>
            </a:avLst>
          </a:prstGeom>
          <a:solidFill>
            <a:srgbClr val="F8F7FA"/>
          </a:solidFill>
          <a:ln w="9525">
            <a:solidFill>
              <a:srgbClr val="DDD7E5"/>
            </a:solidFill>
            <a:prstDash val="solid"/>
          </a:ln>
        </p:spPr>
      </p:sp>
      <p:sp>
        <p:nvSpPr>
          <p:cNvPr id="36" name="Text 33"/>
          <p:cNvSpPr txBox="1"/>
          <p:nvPr/>
        </p:nvSpPr>
        <p:spPr>
          <a:xfrm>
            <a:off x="8839200" y="4381500"/>
            <a:ext cx="27432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treasury_observations</a:t>
            </a:r>
            <a:endParaRPr lang="es-PE" sz="1650" dirty="0"/>
          </a:p>
        </p:txBody>
      </p:sp>
      <p:sp>
        <p:nvSpPr>
          <p:cNvPr id="37" name="Shape 34"/>
          <p:cNvSpPr/>
          <p:nvPr/>
        </p:nvSpPr>
        <p:spPr>
          <a:xfrm>
            <a:off x="8839200" y="4762500"/>
            <a:ext cx="2743200" cy="9525"/>
          </a:xfrm>
          <a:custGeom>
            <a:avLst/>
            <a:gdLst/>
            <a:ahLst/>
            <a:cxnLst/>
            <a:rect l="l" t="t" r="r" b="b"/>
            <a:pathLst>
              <a:path w="2743200" h="9525">
                <a:moveTo>
                  <a:pt x="0" y="0"/>
                </a:moveTo>
                <a:lnTo>
                  <a:pt x="2743200" y="0"/>
                </a:lnTo>
              </a:path>
            </a:pathLst>
          </a:custGeom>
          <a:noFill/>
          <a:ln w="19050">
            <a:solidFill>
              <a:srgbClr val="DDD7E5"/>
            </a:solidFill>
            <a:prstDash val="solid"/>
          </a:ln>
        </p:spPr>
      </p:sp>
      <p:sp>
        <p:nvSpPr>
          <p:cNvPr id="38" name="Text 35"/>
          <p:cNvSpPr txBox="1"/>
          <p:nvPr/>
        </p:nvSpPr>
        <p:spPr>
          <a:xfrm>
            <a:off x="8839200" y="4800600"/>
            <a:ext cx="27432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request_id · solicitud</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content · observación</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correction · campos a corregir</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resolved_at · resolución</a:t>
            </a:r>
            <a:endParaRPr lang="es-PE" sz="1050" dirty="0"/>
          </a:p>
        </p:txBody>
      </p:sp>
      <p:sp>
        <p:nvSpPr>
          <p:cNvPr id="39" name="Text 36"/>
          <p:cNvSpPr txBox="1"/>
          <p:nvPr/>
        </p:nvSpPr>
        <p:spPr>
          <a:xfrm>
            <a:off x="8839200" y="5600700"/>
            <a:ext cx="27432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+ 5 campos más</a:t>
            </a:r>
            <a:endParaRPr lang="es-PE" sz="825" dirty="0"/>
          </a:p>
        </p:txBody>
      </p:sp>
      <p:sp>
        <p:nvSpPr>
          <p:cNvPr id="40" name="Text 37"/>
          <p:cNvSpPr txBox="1"/>
          <p:nvPr/>
        </p:nvSpPr>
        <p:spPr>
          <a:xfrm>
            <a:off x="3429000" y="25908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41" name="Text 38"/>
          <p:cNvSpPr txBox="1"/>
          <p:nvPr/>
        </p:nvSpPr>
        <p:spPr>
          <a:xfrm>
            <a:off x="4191000" y="25908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N</a:t>
            </a:r>
            <a:endParaRPr lang="es-PE" sz="1050" dirty="0"/>
          </a:p>
        </p:txBody>
      </p:sp>
      <p:sp>
        <p:nvSpPr>
          <p:cNvPr id="42" name="Text 39"/>
          <p:cNvSpPr txBox="1"/>
          <p:nvPr/>
        </p:nvSpPr>
        <p:spPr>
          <a:xfrm>
            <a:off x="7543800" y="23622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43" name="Text 40"/>
          <p:cNvSpPr txBox="1"/>
          <p:nvPr/>
        </p:nvSpPr>
        <p:spPr>
          <a:xfrm>
            <a:off x="8305800" y="23622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N</a:t>
            </a:r>
            <a:endParaRPr lang="es-PE" sz="1050" dirty="0"/>
          </a:p>
        </p:txBody>
      </p:sp>
      <p:sp>
        <p:nvSpPr>
          <p:cNvPr id="44" name="Text 41"/>
          <p:cNvSpPr txBox="1"/>
          <p:nvPr/>
        </p:nvSpPr>
        <p:spPr>
          <a:xfrm>
            <a:off x="2019300" y="36957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45" name="Text 42"/>
          <p:cNvSpPr txBox="1"/>
          <p:nvPr/>
        </p:nvSpPr>
        <p:spPr>
          <a:xfrm>
            <a:off x="2019300" y="40386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N</a:t>
            </a:r>
            <a:endParaRPr lang="es-PE" sz="1050" dirty="0"/>
          </a:p>
        </p:txBody>
      </p:sp>
      <p:sp>
        <p:nvSpPr>
          <p:cNvPr id="46" name="Text 43"/>
          <p:cNvSpPr txBox="1"/>
          <p:nvPr/>
        </p:nvSpPr>
        <p:spPr>
          <a:xfrm>
            <a:off x="7277100" y="36957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47" name="Text 44"/>
          <p:cNvSpPr txBox="1"/>
          <p:nvPr/>
        </p:nvSpPr>
        <p:spPr>
          <a:xfrm>
            <a:off x="8305800" y="51054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N</a:t>
            </a:r>
            <a:endParaRPr lang="es-PE" sz="1050" dirty="0"/>
          </a:p>
        </p:txBody>
      </p:sp>
      <p:sp>
        <p:nvSpPr>
          <p:cNvPr id="48" name="Text 45"/>
          <p:cNvSpPr txBox="1"/>
          <p:nvPr/>
        </p:nvSpPr>
        <p:spPr>
          <a:xfrm>
            <a:off x="4343400" y="4419600"/>
            <a:ext cx="3352800" cy="10668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document_ids es una lista JSON.</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La aplicación valida los PDF</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que pertenecen al lote.</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No es una clave foránea SQL.</a:t>
            </a:r>
            <a:endParaRPr lang="es-PE"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DATOS · IDENTIDAD</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Una identidad Google no concede acceso por sí sola</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La sesión identifica a la persona; authorized_emails define su autorización vigente.</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02 · Seguridad / esquema local</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09 / 24</a:t>
            </a:r>
            <a:endParaRPr lang="es-PE" sz="1050" dirty="0"/>
          </a:p>
        </p:txBody>
      </p:sp>
      <p:sp>
        <p:nvSpPr>
          <p:cNvPr id="11" name="Shape 8"/>
          <p:cNvSpPr/>
          <p:nvPr/>
        </p:nvSpPr>
        <p:spPr>
          <a:xfrm>
            <a:off x="3352800" y="2895600"/>
            <a:ext cx="1219200" cy="9525"/>
          </a:xfrm>
          <a:custGeom>
            <a:avLst/>
            <a:gdLst/>
            <a:ahLst/>
            <a:cxnLst/>
            <a:rect l="l" t="t" r="r" b="b"/>
            <a:pathLst>
              <a:path w="1219200" h="9525">
                <a:moveTo>
                  <a:pt x="0" y="0"/>
                </a:moveTo>
                <a:lnTo>
                  <a:pt x="1219200" y="0"/>
                </a:lnTo>
              </a:path>
            </a:pathLst>
          </a:custGeom>
          <a:noFill/>
          <a:ln w="19050">
            <a:solidFill>
              <a:srgbClr val="625C6D"/>
            </a:solidFill>
            <a:prstDash val="solid"/>
          </a:ln>
        </p:spPr>
      </p:sp>
      <p:sp>
        <p:nvSpPr>
          <p:cNvPr id="12" name="Shape 9"/>
          <p:cNvSpPr/>
          <p:nvPr/>
        </p:nvSpPr>
        <p:spPr>
          <a:xfrm>
            <a:off x="7467600" y="2895600"/>
            <a:ext cx="1219200" cy="9525"/>
          </a:xfrm>
          <a:custGeom>
            <a:avLst/>
            <a:gdLst/>
            <a:ahLst/>
            <a:cxnLst/>
            <a:rect l="l" t="t" r="r" b="b"/>
            <a:pathLst>
              <a:path w="1219200" h="9525">
                <a:moveTo>
                  <a:pt x="0" y="0"/>
                </a:moveTo>
                <a:lnTo>
                  <a:pt x="1219200" y="0"/>
                </a:lnTo>
              </a:path>
            </a:pathLst>
          </a:custGeom>
          <a:noFill/>
          <a:ln w="19050">
            <a:solidFill>
              <a:srgbClr val="625C6D"/>
            </a:solidFill>
            <a:prstDash val="solid"/>
          </a:ln>
        </p:spPr>
      </p:sp>
      <p:sp>
        <p:nvSpPr>
          <p:cNvPr id="13" name="Shape 10"/>
          <p:cNvSpPr/>
          <p:nvPr/>
        </p:nvSpPr>
        <p:spPr>
          <a:xfrm>
            <a:off x="6019800" y="3657600"/>
            <a:ext cx="9525" cy="609600"/>
          </a:xfrm>
          <a:custGeom>
            <a:avLst/>
            <a:gdLst/>
            <a:ahLst/>
            <a:cxnLst/>
            <a:rect l="l" t="t" r="r" b="b"/>
            <a:pathLst>
              <a:path w="9525" h="609600">
                <a:moveTo>
                  <a:pt x="0" y="0"/>
                </a:moveTo>
                <a:lnTo>
                  <a:pt x="0" y="609600"/>
                </a:lnTo>
              </a:path>
            </a:pathLst>
          </a:custGeom>
          <a:noFill/>
          <a:ln w="19050">
            <a:solidFill>
              <a:srgbClr val="625C6D"/>
            </a:solidFill>
            <a:prstDash val="dash"/>
          </a:ln>
        </p:spPr>
      </p:sp>
      <p:sp>
        <p:nvSpPr>
          <p:cNvPr id="14" name="Shape 11"/>
          <p:cNvSpPr/>
          <p:nvPr/>
        </p:nvSpPr>
        <p:spPr>
          <a:xfrm>
            <a:off x="457200" y="2133600"/>
            <a:ext cx="2895600" cy="1524000"/>
          </a:xfrm>
          <a:prstGeom prst="roundRect">
            <a:avLst>
              <a:gd name="adj" fmla="val 3600"/>
            </a:avLst>
          </a:prstGeom>
          <a:solidFill>
            <a:srgbClr val="F8F7FA"/>
          </a:solidFill>
          <a:ln w="9525">
            <a:solidFill>
              <a:srgbClr val="DDD7E5"/>
            </a:solidFill>
            <a:prstDash val="solid"/>
          </a:ln>
        </p:spPr>
      </p:sp>
      <p:sp>
        <p:nvSpPr>
          <p:cNvPr id="15" name="Text 12"/>
          <p:cNvSpPr txBox="1"/>
          <p:nvPr/>
        </p:nvSpPr>
        <p:spPr>
          <a:xfrm>
            <a:off x="609600" y="2247900"/>
            <a:ext cx="25908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session</a:t>
            </a:r>
            <a:endParaRPr lang="es-PE" sz="1650" dirty="0"/>
          </a:p>
        </p:txBody>
      </p:sp>
      <p:sp>
        <p:nvSpPr>
          <p:cNvPr id="16" name="Shape 13"/>
          <p:cNvSpPr/>
          <p:nvPr/>
        </p:nvSpPr>
        <p:spPr>
          <a:xfrm>
            <a:off x="609600" y="2628900"/>
            <a:ext cx="2590800" cy="9525"/>
          </a:xfrm>
          <a:custGeom>
            <a:avLst/>
            <a:gdLst/>
            <a:ahLst/>
            <a:cxnLst/>
            <a:rect l="l" t="t" r="r" b="b"/>
            <a:pathLst>
              <a:path w="2590800" h="9525">
                <a:moveTo>
                  <a:pt x="0" y="0"/>
                </a:moveTo>
                <a:lnTo>
                  <a:pt x="2590800" y="0"/>
                </a:lnTo>
              </a:path>
            </a:pathLst>
          </a:custGeom>
          <a:noFill/>
          <a:ln w="19050">
            <a:solidFill>
              <a:srgbClr val="DDD7E5"/>
            </a:solidFill>
            <a:prstDash val="solid"/>
          </a:ln>
        </p:spPr>
      </p:sp>
      <p:sp>
        <p:nvSpPr>
          <p:cNvPr id="17" name="Text 14"/>
          <p:cNvSpPr txBox="1"/>
          <p:nvPr/>
        </p:nvSpPr>
        <p:spPr>
          <a:xfrm>
            <a:off x="609600" y="2667000"/>
            <a:ext cx="25908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user_id · persona</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token · credencial</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expires_at · vencimiento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ip_address · conexión</a:t>
            </a:r>
            <a:endParaRPr lang="es-PE" sz="1050" dirty="0"/>
          </a:p>
        </p:txBody>
      </p:sp>
      <p:sp>
        <p:nvSpPr>
          <p:cNvPr id="18" name="Text 15"/>
          <p:cNvSpPr txBox="1"/>
          <p:nvPr/>
        </p:nvSpPr>
        <p:spPr>
          <a:xfrm>
            <a:off x="609600" y="3467100"/>
            <a:ext cx="25908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+ 4 campos más</a:t>
            </a:r>
            <a:endParaRPr lang="es-PE" sz="825" dirty="0"/>
          </a:p>
        </p:txBody>
      </p:sp>
      <p:sp>
        <p:nvSpPr>
          <p:cNvPr id="19" name="Shape 16"/>
          <p:cNvSpPr/>
          <p:nvPr/>
        </p:nvSpPr>
        <p:spPr>
          <a:xfrm>
            <a:off x="4572000" y="2133600"/>
            <a:ext cx="2895600" cy="1524000"/>
          </a:xfrm>
          <a:prstGeom prst="roundRect">
            <a:avLst>
              <a:gd name="adj" fmla="val 3600"/>
            </a:avLst>
          </a:prstGeom>
          <a:solidFill>
            <a:srgbClr val="F3EAFC"/>
          </a:solidFill>
          <a:ln w="9525">
            <a:solidFill>
              <a:srgbClr val="6802C1"/>
            </a:solidFill>
            <a:prstDash val="solid"/>
          </a:ln>
        </p:spPr>
      </p:sp>
      <p:sp>
        <p:nvSpPr>
          <p:cNvPr id="20" name="Text 17"/>
          <p:cNvSpPr txBox="1"/>
          <p:nvPr/>
        </p:nvSpPr>
        <p:spPr>
          <a:xfrm>
            <a:off x="4724400" y="2247900"/>
            <a:ext cx="25908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6802C1"/>
                </a:solidFill>
                <a:latin typeface="Inter" pitchFamily="34" charset="0"/>
                <a:ea typeface="Inter" pitchFamily="34" charset="-122"/>
                <a:cs typeface="Inter" pitchFamily="34" charset="-120"/>
              </a:rPr>
              <a:t>user</a:t>
            </a:r>
            <a:endParaRPr lang="es-PE" sz="1650" dirty="0"/>
          </a:p>
        </p:txBody>
      </p:sp>
      <p:sp>
        <p:nvSpPr>
          <p:cNvPr id="21" name="Shape 18"/>
          <p:cNvSpPr/>
          <p:nvPr/>
        </p:nvSpPr>
        <p:spPr>
          <a:xfrm>
            <a:off x="4724400" y="2628900"/>
            <a:ext cx="2590800" cy="9525"/>
          </a:xfrm>
          <a:custGeom>
            <a:avLst/>
            <a:gdLst/>
            <a:ahLst/>
            <a:cxnLst/>
            <a:rect l="l" t="t" r="r" b="b"/>
            <a:pathLst>
              <a:path w="2590800" h="9525">
                <a:moveTo>
                  <a:pt x="0" y="0"/>
                </a:moveTo>
                <a:lnTo>
                  <a:pt x="2590800" y="0"/>
                </a:lnTo>
              </a:path>
            </a:pathLst>
          </a:custGeom>
          <a:noFill/>
          <a:ln w="19050">
            <a:solidFill>
              <a:srgbClr val="DDD7E5"/>
            </a:solidFill>
            <a:prstDash val="solid"/>
          </a:ln>
        </p:spPr>
      </p:sp>
      <p:sp>
        <p:nvSpPr>
          <p:cNvPr id="22" name="Text 19"/>
          <p:cNvSpPr txBox="1"/>
          <p:nvPr/>
        </p:nvSpPr>
        <p:spPr>
          <a:xfrm>
            <a:off x="4724400" y="2667000"/>
            <a:ext cx="25908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id · identidad</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email · correo único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email_verified · verificado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name · nombre</a:t>
            </a:r>
            <a:endParaRPr lang="es-PE" sz="1050" dirty="0"/>
          </a:p>
        </p:txBody>
      </p:sp>
      <p:sp>
        <p:nvSpPr>
          <p:cNvPr id="23" name="Text 20"/>
          <p:cNvSpPr txBox="1"/>
          <p:nvPr/>
        </p:nvSpPr>
        <p:spPr>
          <a:xfrm>
            <a:off x="4724400" y="3467100"/>
            <a:ext cx="25908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+ 3 campos más</a:t>
            </a:r>
            <a:endParaRPr lang="es-PE" sz="825" dirty="0"/>
          </a:p>
        </p:txBody>
      </p:sp>
      <p:sp>
        <p:nvSpPr>
          <p:cNvPr id="24" name="Shape 21"/>
          <p:cNvSpPr/>
          <p:nvPr/>
        </p:nvSpPr>
        <p:spPr>
          <a:xfrm>
            <a:off x="8686800" y="2133600"/>
            <a:ext cx="3048000" cy="1524000"/>
          </a:xfrm>
          <a:prstGeom prst="roundRect">
            <a:avLst>
              <a:gd name="adj" fmla="val 3600"/>
            </a:avLst>
          </a:prstGeom>
          <a:solidFill>
            <a:srgbClr val="F8F7FA"/>
          </a:solidFill>
          <a:ln w="9525">
            <a:solidFill>
              <a:srgbClr val="DDD7E5"/>
            </a:solidFill>
            <a:prstDash val="solid"/>
          </a:ln>
        </p:spPr>
      </p:sp>
      <p:sp>
        <p:nvSpPr>
          <p:cNvPr id="25" name="Text 22"/>
          <p:cNvSpPr txBox="1"/>
          <p:nvPr/>
        </p:nvSpPr>
        <p:spPr>
          <a:xfrm>
            <a:off x="8839200" y="2247900"/>
            <a:ext cx="27432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account</a:t>
            </a:r>
            <a:endParaRPr lang="es-PE" sz="1650" dirty="0"/>
          </a:p>
        </p:txBody>
      </p:sp>
      <p:sp>
        <p:nvSpPr>
          <p:cNvPr id="26" name="Shape 23"/>
          <p:cNvSpPr/>
          <p:nvPr/>
        </p:nvSpPr>
        <p:spPr>
          <a:xfrm>
            <a:off x="8839200" y="2628900"/>
            <a:ext cx="2743200" cy="9525"/>
          </a:xfrm>
          <a:custGeom>
            <a:avLst/>
            <a:gdLst/>
            <a:ahLst/>
            <a:cxnLst/>
            <a:rect l="l" t="t" r="r" b="b"/>
            <a:pathLst>
              <a:path w="2743200" h="9525">
                <a:moveTo>
                  <a:pt x="0" y="0"/>
                </a:moveTo>
                <a:lnTo>
                  <a:pt x="2743200" y="0"/>
                </a:lnTo>
              </a:path>
            </a:pathLst>
          </a:custGeom>
          <a:noFill/>
          <a:ln w="19050">
            <a:solidFill>
              <a:srgbClr val="DDD7E5"/>
            </a:solidFill>
            <a:prstDash val="solid"/>
          </a:ln>
        </p:spPr>
      </p:sp>
      <p:sp>
        <p:nvSpPr>
          <p:cNvPr id="27" name="Text 24"/>
          <p:cNvSpPr txBox="1"/>
          <p:nvPr/>
        </p:nvSpPr>
        <p:spPr>
          <a:xfrm>
            <a:off x="8839200" y="2667000"/>
            <a:ext cx="27432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user_id · persona</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provider_id · Google</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access_token · credencial</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refresh_token · credencial</a:t>
            </a:r>
            <a:endParaRPr lang="es-PE" sz="1050" dirty="0"/>
          </a:p>
        </p:txBody>
      </p:sp>
      <p:sp>
        <p:nvSpPr>
          <p:cNvPr id="28" name="Text 25"/>
          <p:cNvSpPr txBox="1"/>
          <p:nvPr/>
        </p:nvSpPr>
        <p:spPr>
          <a:xfrm>
            <a:off x="8839200" y="3467100"/>
            <a:ext cx="27432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+ 9 campos más</a:t>
            </a:r>
            <a:endParaRPr lang="es-PE" sz="825" dirty="0"/>
          </a:p>
        </p:txBody>
      </p:sp>
      <p:sp>
        <p:nvSpPr>
          <p:cNvPr id="29" name="Shape 26"/>
          <p:cNvSpPr/>
          <p:nvPr/>
        </p:nvSpPr>
        <p:spPr>
          <a:xfrm>
            <a:off x="4267200" y="4267200"/>
            <a:ext cx="3505200" cy="1524000"/>
          </a:xfrm>
          <a:prstGeom prst="roundRect">
            <a:avLst>
              <a:gd name="adj" fmla="val 3600"/>
            </a:avLst>
          </a:prstGeom>
          <a:solidFill>
            <a:srgbClr val="F3EAFC"/>
          </a:solidFill>
          <a:ln w="9525">
            <a:solidFill>
              <a:srgbClr val="6802C1"/>
            </a:solidFill>
            <a:prstDash val="solid"/>
          </a:ln>
        </p:spPr>
      </p:sp>
      <p:sp>
        <p:nvSpPr>
          <p:cNvPr id="30" name="Text 27"/>
          <p:cNvSpPr txBox="1"/>
          <p:nvPr/>
        </p:nvSpPr>
        <p:spPr>
          <a:xfrm>
            <a:off x="4419600" y="4381500"/>
            <a:ext cx="32004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6802C1"/>
                </a:solidFill>
                <a:latin typeface="Inter" pitchFamily="34" charset="0"/>
                <a:ea typeface="Inter" pitchFamily="34" charset="-122"/>
                <a:cs typeface="Inter" pitchFamily="34" charset="-120"/>
              </a:rPr>
              <a:t>authorized_emails</a:t>
            </a:r>
            <a:endParaRPr lang="es-PE" sz="1650" dirty="0"/>
          </a:p>
        </p:txBody>
      </p:sp>
      <p:sp>
        <p:nvSpPr>
          <p:cNvPr id="31" name="Shape 28"/>
          <p:cNvSpPr/>
          <p:nvPr/>
        </p:nvSpPr>
        <p:spPr>
          <a:xfrm>
            <a:off x="4419600" y="4762500"/>
            <a:ext cx="3200400" cy="9525"/>
          </a:xfrm>
          <a:custGeom>
            <a:avLst/>
            <a:gdLst/>
            <a:ahLst/>
            <a:cxnLst/>
            <a:rect l="l" t="t" r="r" b="b"/>
            <a:pathLst>
              <a:path w="3200400" h="9525">
                <a:moveTo>
                  <a:pt x="0" y="0"/>
                </a:moveTo>
                <a:lnTo>
                  <a:pt x="3200400" y="0"/>
                </a:lnTo>
              </a:path>
            </a:pathLst>
          </a:custGeom>
          <a:noFill/>
          <a:ln w="19050">
            <a:solidFill>
              <a:srgbClr val="DDD7E5"/>
            </a:solidFill>
            <a:prstDash val="solid"/>
          </a:ln>
        </p:spPr>
      </p:sp>
      <p:sp>
        <p:nvSpPr>
          <p:cNvPr id="32" name="Text 29"/>
          <p:cNvSpPr txBox="1"/>
          <p:nvPr/>
        </p:nvSpPr>
        <p:spPr>
          <a:xfrm>
            <a:off x="4419600" y="4800600"/>
            <a:ext cx="32004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email · correo autorizado</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role · gestor / caja</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publisher_imprints · unidades</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treasury_service · solo consulta</a:t>
            </a:r>
            <a:endParaRPr lang="es-PE" sz="1050" dirty="0"/>
          </a:p>
        </p:txBody>
      </p:sp>
      <p:sp>
        <p:nvSpPr>
          <p:cNvPr id="33" name="Text 30"/>
          <p:cNvSpPr txBox="1"/>
          <p:nvPr/>
        </p:nvSpPr>
        <p:spPr>
          <a:xfrm>
            <a:off x="4419600" y="5600700"/>
            <a:ext cx="32004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+ 3 campos más</a:t>
            </a:r>
            <a:endParaRPr lang="es-PE" sz="825" dirty="0"/>
          </a:p>
        </p:txBody>
      </p:sp>
      <p:sp>
        <p:nvSpPr>
          <p:cNvPr id="34" name="Shape 31"/>
          <p:cNvSpPr/>
          <p:nvPr/>
        </p:nvSpPr>
        <p:spPr>
          <a:xfrm>
            <a:off x="457200" y="4267200"/>
            <a:ext cx="2895600" cy="1524000"/>
          </a:xfrm>
          <a:prstGeom prst="roundRect">
            <a:avLst>
              <a:gd name="adj" fmla="val 3600"/>
            </a:avLst>
          </a:prstGeom>
          <a:solidFill>
            <a:srgbClr val="F8F7FA"/>
          </a:solidFill>
          <a:ln w="9525">
            <a:solidFill>
              <a:srgbClr val="DDD7E5"/>
            </a:solidFill>
            <a:prstDash val="solid"/>
          </a:ln>
        </p:spPr>
      </p:sp>
      <p:sp>
        <p:nvSpPr>
          <p:cNvPr id="35" name="Text 32"/>
          <p:cNvSpPr txBox="1"/>
          <p:nvPr/>
        </p:nvSpPr>
        <p:spPr>
          <a:xfrm>
            <a:off x="609600" y="4381500"/>
            <a:ext cx="2590800" cy="3048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25202D"/>
                </a:solidFill>
                <a:latin typeface="Inter" pitchFamily="34" charset="0"/>
                <a:ea typeface="Inter" pitchFamily="34" charset="-122"/>
                <a:cs typeface="Inter" pitchFamily="34" charset="-120"/>
              </a:rPr>
              <a:t>verification</a:t>
            </a:r>
            <a:endParaRPr lang="es-PE" sz="1650" dirty="0"/>
          </a:p>
        </p:txBody>
      </p:sp>
      <p:sp>
        <p:nvSpPr>
          <p:cNvPr id="36" name="Shape 33"/>
          <p:cNvSpPr/>
          <p:nvPr/>
        </p:nvSpPr>
        <p:spPr>
          <a:xfrm>
            <a:off x="609600" y="4762500"/>
            <a:ext cx="2590800" cy="9525"/>
          </a:xfrm>
          <a:custGeom>
            <a:avLst/>
            <a:gdLst/>
            <a:ahLst/>
            <a:cxnLst/>
            <a:rect l="l" t="t" r="r" b="b"/>
            <a:pathLst>
              <a:path w="2590800" h="9525">
                <a:moveTo>
                  <a:pt x="0" y="0"/>
                </a:moveTo>
                <a:lnTo>
                  <a:pt x="2590800" y="0"/>
                </a:lnTo>
              </a:path>
            </a:pathLst>
          </a:custGeom>
          <a:noFill/>
          <a:ln w="19050">
            <a:solidFill>
              <a:srgbClr val="DDD7E5"/>
            </a:solidFill>
            <a:prstDash val="solid"/>
          </a:ln>
        </p:spPr>
      </p:sp>
      <p:sp>
        <p:nvSpPr>
          <p:cNvPr id="37" name="Text 34"/>
          <p:cNvSpPr txBox="1"/>
          <p:nvPr/>
        </p:nvSpPr>
        <p:spPr>
          <a:xfrm>
            <a:off x="609600" y="4800600"/>
            <a:ext cx="2590800" cy="800100"/>
          </a:xfrm>
          <a:prstGeom prst="rect">
            <a:avLst/>
          </a:prstGeom>
          <a:noFill/>
          <a:ln/>
        </p:spPr>
        <p:txBody>
          <a:bodyPr wrap="none" lIns="0" tIns="0" rIns="0" bIns="0" rtlCol="0" anchor="t"/>
          <a:lstStyle/>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identifier · identificador</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value · verificación</a:t>
            </a:r>
            <a:endParaRPr lang="es-PE" sz="1050" dirty="0"/>
          </a:p>
          <a:p>
            <a:pPr algn="l" indent="0" marL="0">
              <a:lnSpc>
                <a:spcPct val="122000"/>
              </a:lnSpc>
              <a:buNone/>
            </a:pPr>
            <a:r>
              <a:rPr lang="es-PE" altLang="en-US" sz="1050" dirty="0">
                <a:solidFill>
                  <a:srgbClr val="625C6D"/>
                </a:solidFill>
                <a:latin typeface="Inter" pitchFamily="34" charset="0"/>
                <a:ea typeface="Inter" pitchFamily="34" charset="-122"/>
                <a:cs typeface="Inter" pitchFamily="34" charset="-120"/>
              </a:rPr>
              <a:t>expires_at · vencimiento</a:t>
            </a:r>
            <a:endParaRPr lang="es-PE" sz="1050" dirty="0"/>
          </a:p>
        </p:txBody>
      </p:sp>
      <p:sp>
        <p:nvSpPr>
          <p:cNvPr id="38" name="Text 35"/>
          <p:cNvSpPr txBox="1"/>
          <p:nvPr/>
        </p:nvSpPr>
        <p:spPr>
          <a:xfrm>
            <a:off x="609600" y="5600700"/>
            <a:ext cx="2590800" cy="17145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+ 3 campos más</a:t>
            </a:r>
            <a:endParaRPr lang="es-PE" sz="825" dirty="0"/>
          </a:p>
        </p:txBody>
      </p:sp>
      <p:sp>
        <p:nvSpPr>
          <p:cNvPr id="39" name="Text 36"/>
          <p:cNvSpPr txBox="1"/>
          <p:nvPr/>
        </p:nvSpPr>
        <p:spPr>
          <a:xfrm>
            <a:off x="3429000" y="25908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N</a:t>
            </a:r>
            <a:endParaRPr lang="es-PE" sz="1050" dirty="0"/>
          </a:p>
        </p:txBody>
      </p:sp>
      <p:sp>
        <p:nvSpPr>
          <p:cNvPr id="40" name="Text 37"/>
          <p:cNvSpPr txBox="1"/>
          <p:nvPr/>
        </p:nvSpPr>
        <p:spPr>
          <a:xfrm>
            <a:off x="4191000" y="25908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41" name="Text 38"/>
          <p:cNvSpPr txBox="1"/>
          <p:nvPr/>
        </p:nvSpPr>
        <p:spPr>
          <a:xfrm>
            <a:off x="7543800" y="25908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1</a:t>
            </a:r>
            <a:endParaRPr lang="es-PE" sz="1050" dirty="0"/>
          </a:p>
        </p:txBody>
      </p:sp>
      <p:sp>
        <p:nvSpPr>
          <p:cNvPr id="42" name="Text 39"/>
          <p:cNvSpPr txBox="1"/>
          <p:nvPr/>
        </p:nvSpPr>
        <p:spPr>
          <a:xfrm>
            <a:off x="8305800" y="2590800"/>
            <a:ext cx="457200" cy="228600"/>
          </a:xfrm>
          <a:prstGeom prst="rect">
            <a:avLst/>
          </a:prstGeom>
          <a:noFill/>
          <a:ln/>
        </p:spPr>
        <p:txBody>
          <a:bodyPr wrap="none" lIns="0" tIns="0" rIns="0" bIns="0" rtlCol="0" anchor="t"/>
          <a:lstStyle/>
          <a:p>
            <a:pPr algn="l" indent="0" marL="0">
              <a:lnSpc>
                <a:spcPct val="122000"/>
              </a:lnSpc>
              <a:buNone/>
            </a:pPr>
            <a:r>
              <a:rPr lang="es-PE" altLang="en-US" sz="1050" b="1" dirty="0">
                <a:solidFill>
                  <a:srgbClr val="625C6D"/>
                </a:solidFill>
                <a:latin typeface="Inter" pitchFamily="34" charset="0"/>
                <a:ea typeface="Inter" pitchFamily="34" charset="-122"/>
                <a:cs typeface="Inter" pitchFamily="34" charset="-120"/>
              </a:rPr>
              <a:t>N</a:t>
            </a:r>
            <a:endParaRPr lang="es-PE" sz="1050" dirty="0"/>
          </a:p>
        </p:txBody>
      </p:sp>
      <p:sp>
        <p:nvSpPr>
          <p:cNvPr id="43" name="Text 40"/>
          <p:cNvSpPr txBox="1"/>
          <p:nvPr/>
        </p:nvSpPr>
        <p:spPr>
          <a:xfrm>
            <a:off x="7848600" y="4305300"/>
            <a:ext cx="3581400" cy="1257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Línea discontinua:</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comparación por correo</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en el servidor.</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No existe una FK SQL.</a:t>
            </a:r>
            <a:endParaRPr lang="es-PE"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DATOS · PROTECCIÓN</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La protección combina acceso, integridad y custodia</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Lo declarado en el código se distingue de la configuración efectiva que TI debe acreditar.</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02 · Seguridad y accesos</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10 / 24</a:t>
            </a:r>
            <a:endParaRPr lang="es-PE" sz="1050" dirty="0"/>
          </a:p>
        </p:txBody>
      </p:sp>
      <p:sp>
        <p:nvSpPr>
          <p:cNvPr id="11" name="Shape 8"/>
          <p:cNvSpPr/>
          <p:nvPr/>
        </p:nvSpPr>
        <p:spPr>
          <a:xfrm>
            <a:off x="457200" y="2133600"/>
            <a:ext cx="11277600" cy="723900"/>
          </a:xfrm>
          <a:prstGeom prst="roundRect">
            <a:avLst>
              <a:gd name="adj" fmla="val 7579"/>
            </a:avLst>
          </a:prstGeom>
          <a:solidFill>
            <a:srgbClr val="F8F7FA"/>
          </a:solidFill>
          <a:ln w="12700">
            <a:solidFill>
              <a:srgbClr val="333333">
                <a:alpha val="0"/>
              </a:srgbClr>
            </a:solidFill>
            <a:prstDash val="solid"/>
          </a:ln>
        </p:spPr>
      </p:sp>
      <p:sp>
        <p:nvSpPr>
          <p:cNvPr id="12" name="Text 9"/>
          <p:cNvSpPr txBox="1"/>
          <p:nvPr/>
        </p:nvSpPr>
        <p:spPr>
          <a:xfrm>
            <a:off x="647700" y="2286000"/>
            <a:ext cx="2514600" cy="5334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Acceso</a:t>
            </a:r>
            <a:endParaRPr lang="es-PE" sz="1500" dirty="0"/>
          </a:p>
        </p:txBody>
      </p:sp>
      <p:sp>
        <p:nvSpPr>
          <p:cNvPr id="13" name="Text 10"/>
          <p:cNvSpPr txBox="1"/>
          <p:nvPr/>
        </p:nvSpPr>
        <p:spPr>
          <a:xfrm>
            <a:off x="3390900" y="2286000"/>
            <a:ext cx="8077200" cy="5334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Sesión vigente + rol/unidad + asignación + datos mínimos por audiencia.</a:t>
            </a:r>
            <a:endParaRPr lang="es-PE" sz="1425" dirty="0"/>
          </a:p>
        </p:txBody>
      </p:sp>
      <p:sp>
        <p:nvSpPr>
          <p:cNvPr id="14" name="Shape 11"/>
          <p:cNvSpPr/>
          <p:nvPr/>
        </p:nvSpPr>
        <p:spPr>
          <a:xfrm>
            <a:off x="457200" y="2971800"/>
            <a:ext cx="11277600" cy="723900"/>
          </a:xfrm>
          <a:prstGeom prst="roundRect">
            <a:avLst>
              <a:gd name="adj" fmla="val 7579"/>
            </a:avLst>
          </a:prstGeom>
          <a:solidFill>
            <a:srgbClr val="F8F7FA"/>
          </a:solidFill>
          <a:ln w="12700">
            <a:solidFill>
              <a:srgbClr val="333333">
                <a:alpha val="0"/>
              </a:srgbClr>
            </a:solidFill>
            <a:prstDash val="solid"/>
          </a:ln>
        </p:spPr>
      </p:sp>
      <p:sp>
        <p:nvSpPr>
          <p:cNvPr id="15" name="Text 12"/>
          <p:cNvSpPr txBox="1"/>
          <p:nvPr/>
        </p:nvSpPr>
        <p:spPr>
          <a:xfrm>
            <a:off x="647700" y="3124200"/>
            <a:ext cx="2514600" cy="5334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Integridad</a:t>
            </a:r>
            <a:endParaRPr lang="es-PE" sz="1500" dirty="0"/>
          </a:p>
        </p:txBody>
      </p:sp>
      <p:sp>
        <p:nvSpPr>
          <p:cNvPr id="16" name="Text 13"/>
          <p:cNvSpPr txBox="1"/>
          <p:nvPr/>
        </p:nvSpPr>
        <p:spPr>
          <a:xfrm>
            <a:off x="3390900" y="3124200"/>
            <a:ext cx="8077200" cy="5334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Transacciones, claves, restricciones, versión, snapshots, hash e historial.</a:t>
            </a:r>
            <a:endParaRPr lang="es-PE" sz="1425" dirty="0"/>
          </a:p>
        </p:txBody>
      </p:sp>
      <p:sp>
        <p:nvSpPr>
          <p:cNvPr id="17" name="Shape 14"/>
          <p:cNvSpPr/>
          <p:nvPr/>
        </p:nvSpPr>
        <p:spPr>
          <a:xfrm>
            <a:off x="457200" y="3810000"/>
            <a:ext cx="11277600" cy="723900"/>
          </a:xfrm>
          <a:prstGeom prst="roundRect">
            <a:avLst>
              <a:gd name="adj" fmla="val 7579"/>
            </a:avLst>
          </a:prstGeom>
          <a:solidFill>
            <a:srgbClr val="F8F7FA"/>
          </a:solidFill>
          <a:ln w="12700">
            <a:solidFill>
              <a:srgbClr val="333333">
                <a:alpha val="0"/>
              </a:srgbClr>
            </a:solidFill>
            <a:prstDash val="solid"/>
          </a:ln>
        </p:spPr>
      </p:sp>
      <p:sp>
        <p:nvSpPr>
          <p:cNvPr id="18" name="Text 15"/>
          <p:cNvSpPr txBox="1"/>
          <p:nvPr/>
        </p:nvSpPr>
        <p:spPr>
          <a:xfrm>
            <a:off x="647700" y="3962400"/>
            <a:ext cx="2514600" cy="5334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Archivos privados</a:t>
            </a:r>
            <a:endParaRPr lang="es-PE" sz="1500" dirty="0"/>
          </a:p>
        </p:txBody>
      </p:sp>
      <p:sp>
        <p:nvSpPr>
          <p:cNvPr id="19" name="Text 16"/>
          <p:cNvSpPr txBox="1"/>
          <p:nvPr/>
        </p:nvSpPr>
        <p:spPr>
          <a:xfrm>
            <a:off x="3390900" y="3962400"/>
            <a:ext cx="8077200" cy="5334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IDs y hashes en BD; adjuntos en Drive. La guía PDF también se guarda en BD.</a:t>
            </a:r>
            <a:endParaRPr lang="es-PE" sz="1425" dirty="0"/>
          </a:p>
        </p:txBody>
      </p:sp>
      <p:sp>
        <p:nvSpPr>
          <p:cNvPr id="20" name="Shape 17"/>
          <p:cNvSpPr/>
          <p:nvPr/>
        </p:nvSpPr>
        <p:spPr>
          <a:xfrm>
            <a:off x="457200" y="4648200"/>
            <a:ext cx="11277600" cy="723900"/>
          </a:xfrm>
          <a:prstGeom prst="roundRect">
            <a:avLst>
              <a:gd name="adj" fmla="val 7579"/>
            </a:avLst>
          </a:prstGeom>
          <a:solidFill>
            <a:srgbClr val="F8F7FA"/>
          </a:solidFill>
          <a:ln w="12700">
            <a:solidFill>
              <a:srgbClr val="333333">
                <a:alpha val="0"/>
              </a:srgbClr>
            </a:solidFill>
            <a:prstDash val="solid"/>
          </a:ln>
        </p:spPr>
      </p:sp>
      <p:sp>
        <p:nvSpPr>
          <p:cNvPr id="21" name="Text 18"/>
          <p:cNvSpPr txBox="1"/>
          <p:nvPr/>
        </p:nvSpPr>
        <p:spPr>
          <a:xfrm>
            <a:off x="647700" y="4800600"/>
            <a:ext cx="2514600" cy="5334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Custodia · validar TI</a:t>
            </a:r>
            <a:endParaRPr lang="es-PE" sz="1500" dirty="0"/>
          </a:p>
        </p:txBody>
      </p:sp>
      <p:sp>
        <p:nvSpPr>
          <p:cNvPr id="22" name="Text 19"/>
          <p:cNvSpPr txBox="1"/>
          <p:nvPr/>
        </p:nvSpPr>
        <p:spPr>
          <a:xfrm>
            <a:off x="3390900" y="4800600"/>
            <a:ext cx="8077200" cy="5334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Privilegios SQL, cifrado efectivo, MFA y copias cifradas con clave separada.</a:t>
            </a:r>
            <a:endParaRPr lang="es-PE" sz="1425" dirty="0"/>
          </a:p>
        </p:txBody>
      </p:sp>
      <p:sp>
        <p:nvSpPr>
          <p:cNvPr id="23" name="Shape 20"/>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4" name="Text 21"/>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No hay cifrado propio por campo ni garantía de auditoría inalterable frente al propietario de BD.</a:t>
            </a:r>
            <a:endParaRPr lang="es-PE"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04 · CONSISTENCIA</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El pedido se registra completo o se revierte</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Las reglas se comprueban en el servidor, aunque la pantalla ya las haya validado.</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01 · Arquitectura / 04 · Reglas de demostración</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11 / 24</a:t>
            </a:r>
            <a:endParaRPr lang="es-PE" sz="1050" dirty="0"/>
          </a:p>
        </p:txBody>
      </p:sp>
      <p:sp>
        <p:nvSpPr>
          <p:cNvPr id="11" name="Shape 8"/>
          <p:cNvSpPr/>
          <p:nvPr/>
        </p:nvSpPr>
        <p:spPr>
          <a:xfrm>
            <a:off x="4013200" y="344805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2" name="Shape 9"/>
          <p:cNvSpPr/>
          <p:nvPr/>
        </p:nvSpPr>
        <p:spPr>
          <a:xfrm>
            <a:off x="7874000" y="344805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3" name="Shape 10"/>
          <p:cNvSpPr/>
          <p:nvPr/>
        </p:nvSpPr>
        <p:spPr>
          <a:xfrm>
            <a:off x="457200" y="2400300"/>
            <a:ext cx="3556000" cy="2095500"/>
          </a:xfrm>
          <a:prstGeom prst="roundRect">
            <a:avLst>
              <a:gd name="adj" fmla="val 2618"/>
            </a:avLst>
          </a:prstGeom>
          <a:solidFill>
            <a:srgbClr val="F3EAFC"/>
          </a:solidFill>
          <a:ln w="9525">
            <a:solidFill>
              <a:srgbClr val="6802C1"/>
            </a:solidFill>
            <a:prstDash val="solid"/>
          </a:ln>
        </p:spPr>
      </p:sp>
      <p:sp>
        <p:nvSpPr>
          <p:cNvPr id="14" name="Text 11"/>
          <p:cNvSpPr txBox="1"/>
          <p:nvPr/>
        </p:nvSpPr>
        <p:spPr>
          <a:xfrm>
            <a:off x="6477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802C1"/>
                </a:solidFill>
                <a:latin typeface="Inter" pitchFamily="34" charset="0"/>
                <a:ea typeface="Inter" pitchFamily="34" charset="-122"/>
                <a:cs typeface="Inter" pitchFamily="34" charset="-120"/>
              </a:rPr>
              <a:t>01</a:t>
            </a:r>
            <a:endParaRPr lang="es-PE" sz="900" dirty="0"/>
          </a:p>
        </p:txBody>
      </p:sp>
      <p:sp>
        <p:nvSpPr>
          <p:cNvPr id="15" name="Text 12"/>
          <p:cNvSpPr txBox="1"/>
          <p:nvPr/>
        </p:nvSpPr>
        <p:spPr>
          <a:xfrm>
            <a:off x="6477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Validar</a:t>
            </a:r>
            <a:endParaRPr lang="es-PE" sz="1725" dirty="0"/>
          </a:p>
        </p:txBody>
      </p:sp>
      <p:sp>
        <p:nvSpPr>
          <p:cNvPr id="16" name="Text 13"/>
          <p:cNvSpPr txBox="1"/>
          <p:nvPr/>
        </p:nvSpPr>
        <p:spPr>
          <a:xfrm>
            <a:off x="647700" y="3314700"/>
            <a:ext cx="3175000" cy="11049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Datos, precio, cupón,</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stock y cuotas.</a:t>
            </a:r>
            <a:endParaRPr lang="es-PE" sz="1350" dirty="0"/>
          </a:p>
        </p:txBody>
      </p:sp>
      <p:sp>
        <p:nvSpPr>
          <p:cNvPr id="17" name="Shape 14"/>
          <p:cNvSpPr/>
          <p:nvPr/>
        </p:nvSpPr>
        <p:spPr>
          <a:xfrm>
            <a:off x="4318000" y="2400300"/>
            <a:ext cx="3556000" cy="2095500"/>
          </a:xfrm>
          <a:prstGeom prst="roundRect">
            <a:avLst>
              <a:gd name="adj" fmla="val 2618"/>
            </a:avLst>
          </a:prstGeom>
          <a:solidFill>
            <a:srgbClr val="F8F7FA"/>
          </a:solidFill>
          <a:ln w="9525">
            <a:solidFill>
              <a:srgbClr val="DDD7E5"/>
            </a:solidFill>
            <a:prstDash val="solid"/>
          </a:ln>
        </p:spPr>
      </p:sp>
      <p:sp>
        <p:nvSpPr>
          <p:cNvPr id="18" name="Text 15"/>
          <p:cNvSpPr txBox="1"/>
          <p:nvPr/>
        </p:nvSpPr>
        <p:spPr>
          <a:xfrm>
            <a:off x="45085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02</a:t>
            </a:r>
            <a:endParaRPr lang="es-PE" sz="900" dirty="0"/>
          </a:p>
        </p:txBody>
      </p:sp>
      <p:sp>
        <p:nvSpPr>
          <p:cNvPr id="19" name="Text 16"/>
          <p:cNvSpPr txBox="1"/>
          <p:nvPr/>
        </p:nvSpPr>
        <p:spPr>
          <a:xfrm>
            <a:off x="45085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Confirmar</a:t>
            </a:r>
            <a:endParaRPr lang="es-PE" sz="1725" dirty="0"/>
          </a:p>
        </p:txBody>
      </p:sp>
      <p:sp>
        <p:nvSpPr>
          <p:cNvPr id="20" name="Text 17"/>
          <p:cNvSpPr txBox="1"/>
          <p:nvPr/>
        </p:nvSpPr>
        <p:spPr>
          <a:xfrm>
            <a:off x="4508500" y="3314700"/>
            <a:ext cx="3175000" cy="11049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Pedido, partidas, stock</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y numeración juntos.</a:t>
            </a:r>
            <a:endParaRPr lang="es-PE" sz="1350" dirty="0"/>
          </a:p>
        </p:txBody>
      </p:sp>
      <p:sp>
        <p:nvSpPr>
          <p:cNvPr id="21" name="Shape 18"/>
          <p:cNvSpPr/>
          <p:nvPr/>
        </p:nvSpPr>
        <p:spPr>
          <a:xfrm>
            <a:off x="8178800" y="2400300"/>
            <a:ext cx="3556000" cy="2095500"/>
          </a:xfrm>
          <a:prstGeom prst="roundRect">
            <a:avLst>
              <a:gd name="adj" fmla="val 2618"/>
            </a:avLst>
          </a:prstGeom>
          <a:solidFill>
            <a:srgbClr val="F8F7FA"/>
          </a:solidFill>
          <a:ln w="9525">
            <a:solidFill>
              <a:srgbClr val="DDD7E5"/>
            </a:solidFill>
            <a:prstDash val="solid"/>
          </a:ln>
        </p:spPr>
      </p:sp>
      <p:sp>
        <p:nvSpPr>
          <p:cNvPr id="22" name="Text 19"/>
          <p:cNvSpPr txBox="1"/>
          <p:nvPr/>
        </p:nvSpPr>
        <p:spPr>
          <a:xfrm>
            <a:off x="83693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03</a:t>
            </a:r>
            <a:endParaRPr lang="es-PE" sz="900" dirty="0"/>
          </a:p>
        </p:txBody>
      </p:sp>
      <p:sp>
        <p:nvSpPr>
          <p:cNvPr id="23" name="Text 20"/>
          <p:cNvSpPr txBox="1"/>
          <p:nvPr/>
        </p:nvSpPr>
        <p:spPr>
          <a:xfrm>
            <a:off x="83693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Comunicar</a:t>
            </a:r>
            <a:endParaRPr lang="es-PE" sz="1725" dirty="0"/>
          </a:p>
        </p:txBody>
      </p:sp>
      <p:sp>
        <p:nvSpPr>
          <p:cNvPr id="24" name="Text 21"/>
          <p:cNvSpPr txBox="1"/>
          <p:nvPr/>
        </p:nvSpPr>
        <p:spPr>
          <a:xfrm>
            <a:off x="8369300" y="3314700"/>
            <a:ext cx="3175000" cy="11049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Aviso del evento nuevo</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después de guardar.</a:t>
            </a:r>
            <a:endParaRPr lang="es-PE" sz="1350" dirty="0"/>
          </a:p>
        </p:txBody>
      </p:sp>
      <p:sp>
        <p:nvSpPr>
          <p:cNvPr id="25" name="Shape 22"/>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6" name="Text 23"/>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El mismo intento recupera el pedido creado; no se registra otra compra para comprobar el correo.</a:t>
            </a:r>
            <a:endParaRPr lang="es-PE"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05 · ACCESOS</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Cada rol ve y hace solo lo que necesita</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Entrar con Google no basta: la autorización vigente se consulta en la base de datos.</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02 · Matriz de permisos</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12 / 24</a:t>
            </a:r>
            <a:endParaRPr lang="es-PE" sz="1050" dirty="0"/>
          </a:p>
        </p:txBody>
      </p:sp>
      <p:sp>
        <p:nvSpPr>
          <p:cNvPr id="11" name="Shape 8"/>
          <p:cNvSpPr/>
          <p:nvPr/>
        </p:nvSpPr>
        <p:spPr>
          <a:xfrm>
            <a:off x="457200" y="2133600"/>
            <a:ext cx="11277600" cy="609600"/>
          </a:xfrm>
          <a:prstGeom prst="roundRect">
            <a:avLst>
              <a:gd name="adj" fmla="val 9000"/>
            </a:avLst>
          </a:prstGeom>
          <a:solidFill>
            <a:srgbClr val="F8F7FA"/>
          </a:solidFill>
          <a:ln w="12700">
            <a:solidFill>
              <a:srgbClr val="333333">
                <a:alpha val="0"/>
              </a:srgbClr>
            </a:solidFill>
            <a:prstDash val="solid"/>
          </a:ln>
        </p:spPr>
      </p:sp>
      <p:sp>
        <p:nvSpPr>
          <p:cNvPr id="12" name="Text 9"/>
          <p:cNvSpPr txBox="1"/>
          <p:nvPr/>
        </p:nvSpPr>
        <p:spPr>
          <a:xfrm>
            <a:off x="647700" y="2286000"/>
            <a:ext cx="2514600" cy="4191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Comprador</a:t>
            </a:r>
            <a:endParaRPr lang="es-PE" sz="1500" dirty="0"/>
          </a:p>
        </p:txBody>
      </p:sp>
      <p:sp>
        <p:nvSpPr>
          <p:cNvPr id="13" name="Text 10"/>
          <p:cNvSpPr txBox="1"/>
          <p:nvPr/>
        </p:nvSpPr>
        <p:spPr>
          <a:xfrm>
            <a:off x="3390900" y="2286000"/>
            <a:ext cx="8077200" cy="4191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Su pedido y PDF vigente mediante enlace privado.</a:t>
            </a:r>
            <a:endParaRPr lang="es-PE" sz="1425" dirty="0"/>
          </a:p>
        </p:txBody>
      </p:sp>
      <p:sp>
        <p:nvSpPr>
          <p:cNvPr id="14" name="Shape 11"/>
          <p:cNvSpPr/>
          <p:nvPr/>
        </p:nvSpPr>
        <p:spPr>
          <a:xfrm>
            <a:off x="457200" y="2819400"/>
            <a:ext cx="11277600" cy="609600"/>
          </a:xfrm>
          <a:prstGeom prst="roundRect">
            <a:avLst>
              <a:gd name="adj" fmla="val 9000"/>
            </a:avLst>
          </a:prstGeom>
          <a:solidFill>
            <a:srgbClr val="F8F7FA"/>
          </a:solidFill>
          <a:ln w="12700">
            <a:solidFill>
              <a:srgbClr val="333333">
                <a:alpha val="0"/>
              </a:srgbClr>
            </a:solidFill>
            <a:prstDash val="solid"/>
          </a:ln>
        </p:spPr>
      </p:sp>
      <p:sp>
        <p:nvSpPr>
          <p:cNvPr id="15" name="Text 12"/>
          <p:cNvSpPr txBox="1"/>
          <p:nvPr/>
        </p:nvSpPr>
        <p:spPr>
          <a:xfrm>
            <a:off x="647700" y="2971800"/>
            <a:ext cx="2514600" cy="4191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Gestor personal</a:t>
            </a:r>
            <a:endParaRPr lang="es-PE" sz="1500" dirty="0"/>
          </a:p>
        </p:txBody>
      </p:sp>
      <p:sp>
        <p:nvSpPr>
          <p:cNvPr id="16" name="Text 13"/>
          <p:cNvSpPr txBox="1"/>
          <p:nvPr/>
        </p:nvSpPr>
        <p:spPr>
          <a:xfrm>
            <a:off x="3390900" y="2971800"/>
            <a:ext cx="8077200" cy="4191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Atención de pagos, distribución y entrega del caso asignado.</a:t>
            </a:r>
            <a:endParaRPr lang="es-PE" sz="1425" dirty="0"/>
          </a:p>
        </p:txBody>
      </p:sp>
      <p:sp>
        <p:nvSpPr>
          <p:cNvPr id="17" name="Shape 14"/>
          <p:cNvSpPr/>
          <p:nvPr/>
        </p:nvSpPr>
        <p:spPr>
          <a:xfrm>
            <a:off x="457200" y="3505200"/>
            <a:ext cx="11277600" cy="609600"/>
          </a:xfrm>
          <a:prstGeom prst="roundRect">
            <a:avLst>
              <a:gd name="adj" fmla="val 9000"/>
            </a:avLst>
          </a:prstGeom>
          <a:solidFill>
            <a:srgbClr val="F8F7FA"/>
          </a:solidFill>
          <a:ln w="12700">
            <a:solidFill>
              <a:srgbClr val="333333">
                <a:alpha val="0"/>
              </a:srgbClr>
            </a:solidFill>
            <a:prstDash val="solid"/>
          </a:ln>
        </p:spPr>
      </p:sp>
      <p:sp>
        <p:nvSpPr>
          <p:cNvPr id="18" name="Text 15"/>
          <p:cNvSpPr txBox="1"/>
          <p:nvPr/>
        </p:nvSpPr>
        <p:spPr>
          <a:xfrm>
            <a:off x="647700" y="3657600"/>
            <a:ext cx="2514600" cy="4191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Tesorería personal</a:t>
            </a:r>
            <a:endParaRPr lang="es-PE" sz="1500" dirty="0"/>
          </a:p>
        </p:txBody>
      </p:sp>
      <p:sp>
        <p:nvSpPr>
          <p:cNvPr id="19" name="Text 16"/>
          <p:cNvSpPr txBox="1"/>
          <p:nvPr/>
        </p:nvSpPr>
        <p:spPr>
          <a:xfrm>
            <a:off x="3390900" y="3657600"/>
            <a:ext cx="8077200" cy="4191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Emisión y correcciones de solicitudes de sus unidades.</a:t>
            </a:r>
            <a:endParaRPr lang="es-PE" sz="1425" dirty="0"/>
          </a:p>
        </p:txBody>
      </p:sp>
      <p:sp>
        <p:nvSpPr>
          <p:cNvPr id="20" name="Shape 17"/>
          <p:cNvSpPr/>
          <p:nvPr/>
        </p:nvSpPr>
        <p:spPr>
          <a:xfrm>
            <a:off x="457200" y="4191000"/>
            <a:ext cx="11277600" cy="609600"/>
          </a:xfrm>
          <a:prstGeom prst="roundRect">
            <a:avLst>
              <a:gd name="adj" fmla="val 9000"/>
            </a:avLst>
          </a:prstGeom>
          <a:solidFill>
            <a:srgbClr val="F8F7FA"/>
          </a:solidFill>
          <a:ln w="12700">
            <a:solidFill>
              <a:srgbClr val="333333">
                <a:alpha val="0"/>
              </a:srgbClr>
            </a:solidFill>
            <a:prstDash val="solid"/>
          </a:ln>
        </p:spPr>
      </p:sp>
      <p:sp>
        <p:nvSpPr>
          <p:cNvPr id="21" name="Text 18"/>
          <p:cNvSpPr txBox="1"/>
          <p:nvPr/>
        </p:nvSpPr>
        <p:spPr>
          <a:xfrm>
            <a:off x="647700" y="4343400"/>
            <a:ext cx="2514600" cy="4191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Maestro y buzones</a:t>
            </a:r>
            <a:endParaRPr lang="es-PE" sz="1500" dirty="0"/>
          </a:p>
        </p:txBody>
      </p:sp>
      <p:sp>
        <p:nvSpPr>
          <p:cNvPr id="22" name="Text 19"/>
          <p:cNvSpPr txBox="1"/>
          <p:nvPr/>
        </p:nvSpPr>
        <p:spPr>
          <a:xfrm>
            <a:off x="3390900" y="4343400"/>
            <a:ext cx="8077200" cy="4191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Consulta de casos; el maestro administra accesos y configuración.</a:t>
            </a:r>
            <a:endParaRPr lang="es-PE" sz="1425" dirty="0"/>
          </a:p>
        </p:txBody>
      </p:sp>
      <p:sp>
        <p:nvSpPr>
          <p:cNvPr id="23" name="Shape 20"/>
          <p:cNvSpPr/>
          <p:nvPr/>
        </p:nvSpPr>
        <p:spPr>
          <a:xfrm>
            <a:off x="457200" y="4876800"/>
            <a:ext cx="11277600" cy="609600"/>
          </a:xfrm>
          <a:prstGeom prst="roundRect">
            <a:avLst>
              <a:gd name="adj" fmla="val 9000"/>
            </a:avLst>
          </a:prstGeom>
          <a:solidFill>
            <a:srgbClr val="F8F7FA"/>
          </a:solidFill>
          <a:ln w="12700">
            <a:solidFill>
              <a:srgbClr val="333333">
                <a:alpha val="0"/>
              </a:srgbClr>
            </a:solidFill>
            <a:prstDash val="solid"/>
          </a:ln>
        </p:spPr>
      </p:sp>
      <p:sp>
        <p:nvSpPr>
          <p:cNvPr id="24" name="Text 21"/>
          <p:cNvSpPr txBox="1"/>
          <p:nvPr/>
        </p:nvSpPr>
        <p:spPr>
          <a:xfrm>
            <a:off x="647700" y="5029200"/>
            <a:ext cx="2514600" cy="4191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Apoyo para recojo</a:t>
            </a:r>
            <a:endParaRPr lang="es-PE" sz="1500" dirty="0"/>
          </a:p>
        </p:txBody>
      </p:sp>
      <p:sp>
        <p:nvSpPr>
          <p:cNvPr id="25" name="Text 22"/>
          <p:cNvSpPr txBox="1"/>
          <p:nvPr/>
        </p:nvSpPr>
        <p:spPr>
          <a:xfrm>
            <a:off x="3390900" y="5029200"/>
            <a:ext cx="8077200" cy="4191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Recibe instrucciones del recojo asignado por correo; sin acceso al sistema.</a:t>
            </a:r>
            <a:endParaRPr lang="es-PE" sz="1425" dirty="0"/>
          </a:p>
        </p:txBody>
      </p:sp>
      <p:sp>
        <p:nvSpPr>
          <p:cNvPr id="26" name="Shape 23"/>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7" name="Text 24"/>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La pantalla orienta; el servidor comprueba sesión, rol, unidad y asignación en cada operación.</a:t>
            </a:r>
            <a:endParaRPr lang="es-PE"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06 · SEGURIDAD</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La protección se aplica en varias capas</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Controles de aplicación documentados; configuración de proveedores por acreditar con TI.</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02 · Seguridad y accesos</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13 / 24</a:t>
            </a:r>
            <a:endParaRPr lang="es-PE" sz="1050" dirty="0"/>
          </a:p>
        </p:txBody>
      </p:sp>
      <p:sp>
        <p:nvSpPr>
          <p:cNvPr id="11" name="Shape 8"/>
          <p:cNvSpPr/>
          <p:nvPr/>
        </p:nvSpPr>
        <p:spPr>
          <a:xfrm>
            <a:off x="457200" y="2133600"/>
            <a:ext cx="11277600" cy="723900"/>
          </a:xfrm>
          <a:prstGeom prst="roundRect">
            <a:avLst>
              <a:gd name="adj" fmla="val 7579"/>
            </a:avLst>
          </a:prstGeom>
          <a:solidFill>
            <a:srgbClr val="F3EAFC"/>
          </a:solidFill>
          <a:ln w="12700">
            <a:solidFill>
              <a:srgbClr val="333333">
                <a:alpha val="0"/>
              </a:srgbClr>
            </a:solidFill>
            <a:prstDash val="solid"/>
          </a:ln>
        </p:spPr>
      </p:sp>
      <p:sp>
        <p:nvSpPr>
          <p:cNvPr id="12" name="Text 9"/>
          <p:cNvSpPr txBox="1"/>
          <p:nvPr/>
        </p:nvSpPr>
        <p:spPr>
          <a:xfrm>
            <a:off x="647700" y="2324100"/>
            <a:ext cx="533400" cy="3429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6802C1"/>
                </a:solidFill>
                <a:latin typeface="Inter" pitchFamily="34" charset="0"/>
                <a:ea typeface="Inter" pitchFamily="34" charset="-122"/>
                <a:cs typeface="Inter" pitchFamily="34" charset="-120"/>
              </a:rPr>
              <a:t>01</a:t>
            </a:r>
            <a:endParaRPr lang="es-PE" sz="1650" dirty="0"/>
          </a:p>
        </p:txBody>
      </p:sp>
      <p:sp>
        <p:nvSpPr>
          <p:cNvPr id="13" name="Text 10"/>
          <p:cNvSpPr txBox="1"/>
          <p:nvPr/>
        </p:nvSpPr>
        <p:spPr>
          <a:xfrm>
            <a:off x="1409700" y="2324100"/>
            <a:ext cx="3048000" cy="342900"/>
          </a:xfrm>
          <a:prstGeom prst="rect">
            <a:avLst/>
          </a:prstGeom>
          <a:noFill/>
          <a:ln/>
        </p:spPr>
        <p:txBody>
          <a:bodyPr wrap="none" lIns="0" tIns="0" rIns="0" bIns="0" rtlCol="0" anchor="t"/>
          <a:lstStyle/>
          <a:p>
            <a:pPr algn="l" indent="0" marL="0">
              <a:lnSpc>
                <a:spcPct val="122000"/>
              </a:lnSpc>
              <a:buNone/>
            </a:pPr>
            <a:r>
              <a:rPr lang="es-PE" altLang="en-US" sz="1575" b="1" dirty="0">
                <a:solidFill>
                  <a:srgbClr val="25202D"/>
                </a:solidFill>
                <a:latin typeface="Inter" pitchFamily="34" charset="0"/>
                <a:ea typeface="Inter" pitchFamily="34" charset="-122"/>
                <a:cs typeface="Inter" pitchFamily="34" charset="-120"/>
              </a:rPr>
              <a:t>Identidad y sesión</a:t>
            </a:r>
            <a:endParaRPr lang="es-PE" sz="1575" dirty="0"/>
          </a:p>
        </p:txBody>
      </p:sp>
      <p:sp>
        <p:nvSpPr>
          <p:cNvPr id="14" name="Text 11"/>
          <p:cNvSpPr txBox="1"/>
          <p:nvPr/>
        </p:nvSpPr>
        <p:spPr>
          <a:xfrm>
            <a:off x="4686300" y="2324100"/>
            <a:ext cx="6781800" cy="419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Google + correo verificado + autorización vigente en BD.</a:t>
            </a:r>
            <a:endParaRPr lang="es-PE" sz="1350" dirty="0"/>
          </a:p>
        </p:txBody>
      </p:sp>
      <p:sp>
        <p:nvSpPr>
          <p:cNvPr id="15" name="Shape 12"/>
          <p:cNvSpPr/>
          <p:nvPr/>
        </p:nvSpPr>
        <p:spPr>
          <a:xfrm>
            <a:off x="457200" y="2971800"/>
            <a:ext cx="11277600" cy="723900"/>
          </a:xfrm>
          <a:prstGeom prst="roundRect">
            <a:avLst>
              <a:gd name="adj" fmla="val 7579"/>
            </a:avLst>
          </a:prstGeom>
          <a:solidFill>
            <a:srgbClr val="F8F7FA"/>
          </a:solidFill>
          <a:ln w="12700">
            <a:solidFill>
              <a:srgbClr val="333333">
                <a:alpha val="0"/>
              </a:srgbClr>
            </a:solidFill>
            <a:prstDash val="solid"/>
          </a:ln>
        </p:spPr>
      </p:sp>
      <p:sp>
        <p:nvSpPr>
          <p:cNvPr id="16" name="Text 13"/>
          <p:cNvSpPr txBox="1"/>
          <p:nvPr/>
        </p:nvSpPr>
        <p:spPr>
          <a:xfrm>
            <a:off x="647700" y="3162300"/>
            <a:ext cx="533400" cy="3429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6802C1"/>
                </a:solidFill>
                <a:latin typeface="Inter" pitchFamily="34" charset="0"/>
                <a:ea typeface="Inter" pitchFamily="34" charset="-122"/>
                <a:cs typeface="Inter" pitchFamily="34" charset="-120"/>
              </a:rPr>
              <a:t>02</a:t>
            </a:r>
            <a:endParaRPr lang="es-PE" sz="1650" dirty="0"/>
          </a:p>
        </p:txBody>
      </p:sp>
      <p:sp>
        <p:nvSpPr>
          <p:cNvPr id="17" name="Text 14"/>
          <p:cNvSpPr txBox="1"/>
          <p:nvPr/>
        </p:nvSpPr>
        <p:spPr>
          <a:xfrm>
            <a:off x="1409700" y="3162300"/>
            <a:ext cx="3048000" cy="342900"/>
          </a:xfrm>
          <a:prstGeom prst="rect">
            <a:avLst/>
          </a:prstGeom>
          <a:noFill/>
          <a:ln/>
        </p:spPr>
        <p:txBody>
          <a:bodyPr wrap="none" lIns="0" tIns="0" rIns="0" bIns="0" rtlCol="0" anchor="t"/>
          <a:lstStyle/>
          <a:p>
            <a:pPr algn="l" indent="0" marL="0">
              <a:lnSpc>
                <a:spcPct val="122000"/>
              </a:lnSpc>
              <a:buNone/>
            </a:pPr>
            <a:r>
              <a:rPr lang="es-PE" altLang="en-US" sz="1575" b="1" dirty="0">
                <a:solidFill>
                  <a:srgbClr val="25202D"/>
                </a:solidFill>
                <a:latin typeface="Inter" pitchFamily="34" charset="0"/>
                <a:ea typeface="Inter" pitchFamily="34" charset="-122"/>
                <a:cs typeface="Inter" pitchFamily="34" charset="-120"/>
              </a:rPr>
              <a:t>Acción y datos</a:t>
            </a:r>
            <a:endParaRPr lang="es-PE" sz="1575" dirty="0"/>
          </a:p>
        </p:txBody>
      </p:sp>
      <p:sp>
        <p:nvSpPr>
          <p:cNvPr id="18" name="Text 15"/>
          <p:cNvSpPr txBox="1"/>
          <p:nvPr/>
        </p:nvSpPr>
        <p:spPr>
          <a:xfrm>
            <a:off x="4686300" y="3162300"/>
            <a:ext cx="6781800" cy="419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Validación servidor + rol/unidad/asignación + transacciones.</a:t>
            </a:r>
            <a:endParaRPr lang="es-PE" sz="1350" dirty="0"/>
          </a:p>
        </p:txBody>
      </p:sp>
      <p:sp>
        <p:nvSpPr>
          <p:cNvPr id="19" name="Shape 16"/>
          <p:cNvSpPr/>
          <p:nvPr/>
        </p:nvSpPr>
        <p:spPr>
          <a:xfrm>
            <a:off x="457200" y="3810000"/>
            <a:ext cx="11277600" cy="723900"/>
          </a:xfrm>
          <a:prstGeom prst="roundRect">
            <a:avLst>
              <a:gd name="adj" fmla="val 7579"/>
            </a:avLst>
          </a:prstGeom>
          <a:solidFill>
            <a:srgbClr val="F8F7FA"/>
          </a:solidFill>
          <a:ln w="12700">
            <a:solidFill>
              <a:srgbClr val="333333">
                <a:alpha val="0"/>
              </a:srgbClr>
            </a:solidFill>
            <a:prstDash val="solid"/>
          </a:ln>
        </p:spPr>
      </p:sp>
      <p:sp>
        <p:nvSpPr>
          <p:cNvPr id="20" name="Text 17"/>
          <p:cNvSpPr txBox="1"/>
          <p:nvPr/>
        </p:nvSpPr>
        <p:spPr>
          <a:xfrm>
            <a:off x="647700" y="4000500"/>
            <a:ext cx="533400" cy="3429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6802C1"/>
                </a:solidFill>
                <a:latin typeface="Inter" pitchFamily="34" charset="0"/>
                <a:ea typeface="Inter" pitchFamily="34" charset="-122"/>
                <a:cs typeface="Inter" pitchFamily="34" charset="-120"/>
              </a:rPr>
              <a:t>03</a:t>
            </a:r>
            <a:endParaRPr lang="es-PE" sz="1650" dirty="0"/>
          </a:p>
        </p:txBody>
      </p:sp>
      <p:sp>
        <p:nvSpPr>
          <p:cNvPr id="21" name="Text 18"/>
          <p:cNvSpPr txBox="1"/>
          <p:nvPr/>
        </p:nvSpPr>
        <p:spPr>
          <a:xfrm>
            <a:off x="1409700" y="4000500"/>
            <a:ext cx="3048000" cy="342900"/>
          </a:xfrm>
          <a:prstGeom prst="rect">
            <a:avLst/>
          </a:prstGeom>
          <a:noFill/>
          <a:ln/>
        </p:spPr>
        <p:txBody>
          <a:bodyPr wrap="none" lIns="0" tIns="0" rIns="0" bIns="0" rtlCol="0" anchor="t"/>
          <a:lstStyle/>
          <a:p>
            <a:pPr algn="l" indent="0" marL="0">
              <a:lnSpc>
                <a:spcPct val="122000"/>
              </a:lnSpc>
              <a:buNone/>
            </a:pPr>
            <a:r>
              <a:rPr lang="es-PE" altLang="en-US" sz="1575" b="1" dirty="0">
                <a:solidFill>
                  <a:srgbClr val="25202D"/>
                </a:solidFill>
                <a:latin typeface="Inter" pitchFamily="34" charset="0"/>
                <a:ea typeface="Inter" pitchFamily="34" charset="-122"/>
                <a:cs typeface="Inter" pitchFamily="34" charset="-120"/>
              </a:rPr>
              <a:t>Archivos e integración</a:t>
            </a:r>
            <a:endParaRPr lang="es-PE" sz="1575" dirty="0"/>
          </a:p>
        </p:txBody>
      </p:sp>
      <p:sp>
        <p:nvSpPr>
          <p:cNvPr id="22" name="Text 19"/>
          <p:cNvSpPr txBox="1"/>
          <p:nvPr/>
        </p:nvSpPr>
        <p:spPr>
          <a:xfrm>
            <a:off x="4686300" y="4000500"/>
            <a:ext cx="6781800" cy="419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Firma y hash + Drive privado + iframe con origen exacto.</a:t>
            </a:r>
            <a:endParaRPr lang="es-PE" sz="1350" dirty="0"/>
          </a:p>
        </p:txBody>
      </p:sp>
      <p:sp>
        <p:nvSpPr>
          <p:cNvPr id="23" name="Shape 20"/>
          <p:cNvSpPr/>
          <p:nvPr/>
        </p:nvSpPr>
        <p:spPr>
          <a:xfrm>
            <a:off x="457200" y="4648200"/>
            <a:ext cx="11277600" cy="723900"/>
          </a:xfrm>
          <a:prstGeom prst="roundRect">
            <a:avLst>
              <a:gd name="adj" fmla="val 7579"/>
            </a:avLst>
          </a:prstGeom>
          <a:solidFill>
            <a:srgbClr val="F8F7FA"/>
          </a:solidFill>
          <a:ln w="12700">
            <a:solidFill>
              <a:srgbClr val="333333">
                <a:alpha val="0"/>
              </a:srgbClr>
            </a:solidFill>
            <a:prstDash val="solid"/>
          </a:ln>
        </p:spPr>
      </p:sp>
      <p:sp>
        <p:nvSpPr>
          <p:cNvPr id="24" name="Text 21"/>
          <p:cNvSpPr txBox="1"/>
          <p:nvPr/>
        </p:nvSpPr>
        <p:spPr>
          <a:xfrm>
            <a:off x="647700" y="4838700"/>
            <a:ext cx="533400" cy="342900"/>
          </a:xfrm>
          <a:prstGeom prst="rect">
            <a:avLst/>
          </a:prstGeom>
          <a:noFill/>
          <a:ln/>
        </p:spPr>
        <p:txBody>
          <a:bodyPr wrap="none" lIns="0" tIns="0" rIns="0" bIns="0" rtlCol="0" anchor="t"/>
          <a:lstStyle/>
          <a:p>
            <a:pPr algn="l" indent="0" marL="0">
              <a:lnSpc>
                <a:spcPct val="122000"/>
              </a:lnSpc>
              <a:buNone/>
            </a:pPr>
            <a:r>
              <a:rPr lang="es-PE" altLang="en-US" sz="1650" b="1" dirty="0">
                <a:solidFill>
                  <a:srgbClr val="6802C1"/>
                </a:solidFill>
                <a:latin typeface="Inter" pitchFamily="34" charset="0"/>
                <a:ea typeface="Inter" pitchFamily="34" charset="-122"/>
                <a:cs typeface="Inter" pitchFamily="34" charset="-120"/>
              </a:rPr>
              <a:t>04</a:t>
            </a:r>
            <a:endParaRPr lang="es-PE" sz="1650" dirty="0"/>
          </a:p>
        </p:txBody>
      </p:sp>
      <p:sp>
        <p:nvSpPr>
          <p:cNvPr id="25" name="Text 22"/>
          <p:cNvSpPr txBox="1"/>
          <p:nvPr/>
        </p:nvSpPr>
        <p:spPr>
          <a:xfrm>
            <a:off x="1409700" y="4838700"/>
            <a:ext cx="3048000" cy="342900"/>
          </a:xfrm>
          <a:prstGeom prst="rect">
            <a:avLst/>
          </a:prstGeom>
          <a:noFill/>
          <a:ln/>
        </p:spPr>
        <p:txBody>
          <a:bodyPr wrap="none" lIns="0" tIns="0" rIns="0" bIns="0" rtlCol="0" anchor="t"/>
          <a:lstStyle/>
          <a:p>
            <a:pPr algn="l" indent="0" marL="0">
              <a:lnSpc>
                <a:spcPct val="122000"/>
              </a:lnSpc>
              <a:buNone/>
            </a:pPr>
            <a:r>
              <a:rPr lang="es-PE" altLang="en-US" sz="1575" b="1" dirty="0">
                <a:solidFill>
                  <a:srgbClr val="25202D"/>
                </a:solidFill>
                <a:latin typeface="Inter" pitchFamily="34" charset="0"/>
                <a:ea typeface="Inter" pitchFamily="34" charset="-122"/>
                <a:cs typeface="Inter" pitchFamily="34" charset="-120"/>
              </a:rPr>
              <a:t>Operación y proveedores</a:t>
            </a:r>
            <a:endParaRPr lang="es-PE" sz="1575" dirty="0"/>
          </a:p>
        </p:txBody>
      </p:sp>
      <p:sp>
        <p:nvSpPr>
          <p:cNvPr id="26" name="Text 23"/>
          <p:cNvSpPr txBox="1"/>
          <p:nvPr/>
        </p:nvSpPr>
        <p:spPr>
          <a:xfrm>
            <a:off x="4686300" y="4838700"/>
            <a:ext cx="6781800" cy="419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Secretos privados + cuotas + configuración institucional de TI.</a:t>
            </a:r>
            <a:endParaRPr lang="es-PE"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07 · AUDITORÍA Y LÍMITES</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Trazabilidad de cambios, con alcance explícito</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Distinguir evidencia del sistema, decisiones institucionales y controles aún por validar.</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02 · Seguridad / 03 · Cierre</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14 / 24</a:t>
            </a:r>
            <a:endParaRPr lang="es-PE" sz="1050" dirty="0"/>
          </a:p>
        </p:txBody>
      </p:sp>
      <p:sp>
        <p:nvSpPr>
          <p:cNvPr id="11" name="Shape 8"/>
          <p:cNvSpPr/>
          <p:nvPr/>
        </p:nvSpPr>
        <p:spPr>
          <a:xfrm>
            <a:off x="457200" y="2171700"/>
            <a:ext cx="5334000" cy="2895600"/>
          </a:xfrm>
          <a:prstGeom prst="roundRect">
            <a:avLst>
              <a:gd name="adj" fmla="val 1895"/>
            </a:avLst>
          </a:prstGeom>
          <a:solidFill>
            <a:srgbClr val="F3EAFC"/>
          </a:solidFill>
          <a:ln w="9525">
            <a:solidFill>
              <a:srgbClr val="6802C1"/>
            </a:solidFill>
            <a:prstDash val="solid"/>
          </a:ln>
        </p:spPr>
      </p:sp>
      <p:sp>
        <p:nvSpPr>
          <p:cNvPr id="12" name="Text 9"/>
          <p:cNvSpPr txBox="1"/>
          <p:nvPr/>
        </p:nvSpPr>
        <p:spPr>
          <a:xfrm>
            <a:off x="647700" y="2324100"/>
            <a:ext cx="4953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802C1"/>
                </a:solidFill>
                <a:latin typeface="Inter" pitchFamily="34" charset="0"/>
                <a:ea typeface="Inter" pitchFamily="34" charset="-122"/>
                <a:cs typeface="Inter" pitchFamily="34" charset="-120"/>
              </a:rPr>
              <a:t>EVIDENCIA DE APLICACIÓN</a:t>
            </a:r>
            <a:endParaRPr lang="es-PE" sz="900" dirty="0"/>
          </a:p>
        </p:txBody>
      </p:sp>
      <p:sp>
        <p:nvSpPr>
          <p:cNvPr id="13" name="Text 10"/>
          <p:cNvSpPr txBox="1"/>
          <p:nvPr/>
        </p:nvSpPr>
        <p:spPr>
          <a:xfrm>
            <a:off x="647700" y="2628900"/>
            <a:ext cx="4953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Qué queda registrado</a:t>
            </a:r>
            <a:endParaRPr lang="es-PE" sz="1725" dirty="0"/>
          </a:p>
        </p:txBody>
      </p:sp>
      <p:sp>
        <p:nvSpPr>
          <p:cNvPr id="14" name="Text 11"/>
          <p:cNvSpPr txBox="1"/>
          <p:nvPr/>
        </p:nvSpPr>
        <p:spPr>
          <a:xfrm>
            <a:off x="647700" y="3086100"/>
            <a:ext cx="4953000" cy="19050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Actor, fecha y cambios operativos</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Accesos y configuración</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Resultado de envíos y documentos</a:t>
            </a:r>
            <a:endParaRPr lang="es-PE" sz="1350" dirty="0"/>
          </a:p>
        </p:txBody>
      </p:sp>
      <p:sp>
        <p:nvSpPr>
          <p:cNvPr id="15" name="Shape 12"/>
          <p:cNvSpPr/>
          <p:nvPr/>
        </p:nvSpPr>
        <p:spPr>
          <a:xfrm>
            <a:off x="6172200" y="2171700"/>
            <a:ext cx="5562600" cy="2895600"/>
          </a:xfrm>
          <a:prstGeom prst="roundRect">
            <a:avLst>
              <a:gd name="adj" fmla="val 1895"/>
            </a:avLst>
          </a:prstGeom>
          <a:solidFill>
            <a:srgbClr val="F8F7FA"/>
          </a:solidFill>
          <a:ln w="9525">
            <a:solidFill>
              <a:srgbClr val="DDD7E5"/>
            </a:solidFill>
            <a:prstDash val="solid"/>
          </a:ln>
        </p:spPr>
      </p:sp>
      <p:sp>
        <p:nvSpPr>
          <p:cNvPr id="16" name="Text 13"/>
          <p:cNvSpPr txBox="1"/>
          <p:nvPr/>
        </p:nvSpPr>
        <p:spPr>
          <a:xfrm>
            <a:off x="6362700" y="2324100"/>
            <a:ext cx="51816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RESPONSABILIDAD COMPARTIDA</a:t>
            </a:r>
            <a:endParaRPr lang="es-PE" sz="900" dirty="0"/>
          </a:p>
        </p:txBody>
      </p:sp>
      <p:sp>
        <p:nvSpPr>
          <p:cNvPr id="17" name="Text 14"/>
          <p:cNvSpPr txBox="1"/>
          <p:nvPr/>
        </p:nvSpPr>
        <p:spPr>
          <a:xfrm>
            <a:off x="6362700" y="2628900"/>
            <a:ext cx="51816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Qué falta acreditar</a:t>
            </a:r>
            <a:endParaRPr lang="es-PE" sz="1725" dirty="0"/>
          </a:p>
        </p:txBody>
      </p:sp>
      <p:sp>
        <p:nvSpPr>
          <p:cNvPr id="18" name="Text 15"/>
          <p:cNvSpPr txBox="1"/>
          <p:nvPr/>
        </p:nvSpPr>
        <p:spPr>
          <a:xfrm>
            <a:off x="6362700" y="3086100"/>
            <a:ext cx="5181600" cy="19050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MFA, IAM, cifrado y región</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Permisos efectivos SQL y Drive</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Restauración y aceptación de privacidad</a:t>
            </a:r>
            <a:endParaRPr lang="es-PE" sz="1350" dirty="0"/>
          </a:p>
        </p:txBody>
      </p:sp>
      <p:sp>
        <p:nvSpPr>
          <p:cNvPr id="19" name="Shape 16"/>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0" name="Text 17"/>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El historial no registra cada lectura ni es inalterable frente al propietario de la base de datos.</a:t>
            </a:r>
            <a:endParaRPr lang="es-PE"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08 · RESPALDOS</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Copia manual semanal, cifrada y con custodia separada</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Es un procedimiento operativo documentado; su automatización no está implementada.</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03 · Respaldo manual semanal a Drive</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15 / 24</a:t>
            </a:r>
            <a:endParaRPr lang="es-PE" sz="1050" dirty="0"/>
          </a:p>
        </p:txBody>
      </p:sp>
      <p:sp>
        <p:nvSpPr>
          <p:cNvPr id="11" name="Shape 8"/>
          <p:cNvSpPr/>
          <p:nvPr/>
        </p:nvSpPr>
        <p:spPr>
          <a:xfrm>
            <a:off x="4013200" y="312420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2" name="Shape 9"/>
          <p:cNvSpPr/>
          <p:nvPr/>
        </p:nvSpPr>
        <p:spPr>
          <a:xfrm>
            <a:off x="7874000" y="312420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3" name="Shape 10"/>
          <p:cNvSpPr/>
          <p:nvPr/>
        </p:nvSpPr>
        <p:spPr>
          <a:xfrm>
            <a:off x="457200" y="2133600"/>
            <a:ext cx="3556000" cy="1981200"/>
          </a:xfrm>
          <a:prstGeom prst="roundRect">
            <a:avLst>
              <a:gd name="adj" fmla="val 2769"/>
            </a:avLst>
          </a:prstGeom>
          <a:solidFill>
            <a:srgbClr val="F3EAFC"/>
          </a:solidFill>
          <a:ln w="9525">
            <a:solidFill>
              <a:srgbClr val="6802C1"/>
            </a:solidFill>
            <a:prstDash val="solid"/>
          </a:ln>
        </p:spPr>
      </p:sp>
      <p:sp>
        <p:nvSpPr>
          <p:cNvPr id="14" name="Text 11"/>
          <p:cNvSpPr txBox="1"/>
          <p:nvPr/>
        </p:nvSpPr>
        <p:spPr>
          <a:xfrm>
            <a:off x="647700" y="22860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802C1"/>
                </a:solidFill>
                <a:latin typeface="Inter" pitchFamily="34" charset="0"/>
                <a:ea typeface="Inter" pitchFamily="34" charset="-122"/>
                <a:cs typeface="Inter" pitchFamily="34" charset="-120"/>
              </a:rPr>
              <a:t>01</a:t>
            </a:r>
            <a:endParaRPr lang="es-PE" sz="900" dirty="0"/>
          </a:p>
        </p:txBody>
      </p:sp>
      <p:sp>
        <p:nvSpPr>
          <p:cNvPr id="15" name="Text 12"/>
          <p:cNvSpPr txBox="1"/>
          <p:nvPr/>
        </p:nvSpPr>
        <p:spPr>
          <a:xfrm>
            <a:off x="647700" y="25908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Exportar</a:t>
            </a:r>
            <a:endParaRPr lang="es-PE" sz="1725" dirty="0"/>
          </a:p>
        </p:txBody>
      </p:sp>
      <p:sp>
        <p:nvSpPr>
          <p:cNvPr id="16" name="Text 13"/>
          <p:cNvSpPr txBox="1"/>
          <p:nvPr/>
        </p:nvSpPr>
        <p:spPr>
          <a:xfrm>
            <a:off x="647700" y="3048000"/>
            <a:ext cx="3175000" cy="9906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Obtener copia de BD</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y verificar el formato.</a:t>
            </a:r>
            <a:endParaRPr lang="es-PE" sz="1350" dirty="0"/>
          </a:p>
        </p:txBody>
      </p:sp>
      <p:sp>
        <p:nvSpPr>
          <p:cNvPr id="17" name="Shape 14"/>
          <p:cNvSpPr/>
          <p:nvPr/>
        </p:nvSpPr>
        <p:spPr>
          <a:xfrm>
            <a:off x="4318000" y="2133600"/>
            <a:ext cx="3556000" cy="1981200"/>
          </a:xfrm>
          <a:prstGeom prst="roundRect">
            <a:avLst>
              <a:gd name="adj" fmla="val 2769"/>
            </a:avLst>
          </a:prstGeom>
          <a:solidFill>
            <a:srgbClr val="F8F7FA"/>
          </a:solidFill>
          <a:ln w="9525">
            <a:solidFill>
              <a:srgbClr val="DDD7E5"/>
            </a:solidFill>
            <a:prstDash val="solid"/>
          </a:ln>
        </p:spPr>
      </p:sp>
      <p:sp>
        <p:nvSpPr>
          <p:cNvPr id="18" name="Text 15"/>
          <p:cNvSpPr txBox="1"/>
          <p:nvPr/>
        </p:nvSpPr>
        <p:spPr>
          <a:xfrm>
            <a:off x="4508500" y="22860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02</a:t>
            </a:r>
            <a:endParaRPr lang="es-PE" sz="900" dirty="0"/>
          </a:p>
        </p:txBody>
      </p:sp>
      <p:sp>
        <p:nvSpPr>
          <p:cNvPr id="19" name="Text 16"/>
          <p:cNvSpPr txBox="1"/>
          <p:nvPr/>
        </p:nvSpPr>
        <p:spPr>
          <a:xfrm>
            <a:off x="4508500" y="25908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Cifrar</a:t>
            </a:r>
            <a:endParaRPr lang="es-PE" sz="1725" dirty="0"/>
          </a:p>
        </p:txBody>
      </p:sp>
      <p:sp>
        <p:nvSpPr>
          <p:cNvPr id="20" name="Text 17"/>
          <p:cNvSpPr txBox="1"/>
          <p:nvPr/>
        </p:nvSpPr>
        <p:spPr>
          <a:xfrm>
            <a:off x="4508500" y="3048000"/>
            <a:ext cx="3175000" cy="9906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Proteger el archivo;</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custodiar la clave aparte.</a:t>
            </a:r>
            <a:endParaRPr lang="es-PE" sz="1350" dirty="0"/>
          </a:p>
        </p:txBody>
      </p:sp>
      <p:sp>
        <p:nvSpPr>
          <p:cNvPr id="21" name="Shape 18"/>
          <p:cNvSpPr/>
          <p:nvPr/>
        </p:nvSpPr>
        <p:spPr>
          <a:xfrm>
            <a:off x="8178800" y="2133600"/>
            <a:ext cx="3556000" cy="1981200"/>
          </a:xfrm>
          <a:prstGeom prst="roundRect">
            <a:avLst>
              <a:gd name="adj" fmla="val 2769"/>
            </a:avLst>
          </a:prstGeom>
          <a:solidFill>
            <a:srgbClr val="F8F7FA"/>
          </a:solidFill>
          <a:ln w="9525">
            <a:solidFill>
              <a:srgbClr val="DDD7E5"/>
            </a:solidFill>
            <a:prstDash val="solid"/>
          </a:ln>
        </p:spPr>
      </p:sp>
      <p:sp>
        <p:nvSpPr>
          <p:cNvPr id="22" name="Text 19"/>
          <p:cNvSpPr txBox="1"/>
          <p:nvPr/>
        </p:nvSpPr>
        <p:spPr>
          <a:xfrm>
            <a:off x="8369300" y="22860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03</a:t>
            </a:r>
            <a:endParaRPr lang="es-PE" sz="900" dirty="0"/>
          </a:p>
        </p:txBody>
      </p:sp>
      <p:sp>
        <p:nvSpPr>
          <p:cNvPr id="23" name="Text 20"/>
          <p:cNvSpPr txBox="1"/>
          <p:nvPr/>
        </p:nvSpPr>
        <p:spPr>
          <a:xfrm>
            <a:off x="8369300" y="25908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Custodiar</a:t>
            </a:r>
            <a:endParaRPr lang="es-PE" sz="1725" dirty="0"/>
          </a:p>
        </p:txBody>
      </p:sp>
      <p:sp>
        <p:nvSpPr>
          <p:cNvPr id="24" name="Text 21"/>
          <p:cNvSpPr txBox="1"/>
          <p:nvPr/>
        </p:nvSpPr>
        <p:spPr>
          <a:xfrm>
            <a:off x="8369300" y="3048000"/>
            <a:ext cx="3175000" cy="9906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Subir a Drive privado</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y registrar evidencia.</a:t>
            </a:r>
            <a:endParaRPr lang="es-PE" sz="1350" dirty="0"/>
          </a:p>
        </p:txBody>
      </p:sp>
      <p:sp>
        <p:nvSpPr>
          <p:cNvPr id="25" name="Text 22"/>
          <p:cNvSpPr txBox="1"/>
          <p:nvPr/>
        </p:nvSpPr>
        <p:spPr>
          <a:xfrm>
            <a:off x="457200" y="4533900"/>
            <a:ext cx="1905000" cy="533400"/>
          </a:xfrm>
          <a:prstGeom prst="rect">
            <a:avLst/>
          </a:prstGeom>
          <a:noFill/>
          <a:ln/>
        </p:spPr>
        <p:txBody>
          <a:bodyPr wrap="none" lIns="0" tIns="0" rIns="0" bIns="0" rtlCol="0" anchor="t"/>
          <a:lstStyle/>
          <a:p>
            <a:pPr algn="l" indent="0" marL="0">
              <a:lnSpc>
                <a:spcPct val="122000"/>
              </a:lnSpc>
              <a:buNone/>
            </a:pPr>
            <a:r>
              <a:rPr lang="es-PE" altLang="en-US" sz="3000" b="1" dirty="0">
                <a:solidFill>
                  <a:srgbClr val="6802C1"/>
                </a:solidFill>
                <a:latin typeface="Inter" pitchFamily="34" charset="0"/>
                <a:ea typeface="Inter" pitchFamily="34" charset="-122"/>
                <a:cs typeface="Inter" pitchFamily="34" charset="-120"/>
              </a:rPr>
              <a:t>7 días</a:t>
            </a:r>
            <a:endParaRPr lang="es-PE" sz="3000" dirty="0"/>
          </a:p>
        </p:txBody>
      </p:sp>
      <p:sp>
        <p:nvSpPr>
          <p:cNvPr id="26" name="Text 23"/>
          <p:cNvSpPr txBox="1"/>
          <p:nvPr/>
        </p:nvSpPr>
        <p:spPr>
          <a:xfrm>
            <a:off x="2514600" y="4533900"/>
            <a:ext cx="8915400" cy="609600"/>
          </a:xfrm>
          <a:prstGeom prst="rect">
            <a:avLst/>
          </a:prstGeom>
          <a:noFill/>
          <a:ln/>
        </p:spPr>
        <p:txBody>
          <a:bodyPr wrap="none" lIns="0" tIns="0" rIns="0" bIns="0" rtlCol="0" anchor="t"/>
          <a:lstStyle/>
          <a:p>
            <a:pPr algn="l" indent="0" marL="0">
              <a:lnSpc>
                <a:spcPct val="122000"/>
              </a:lnSpc>
              <a:buNone/>
            </a:pPr>
            <a:r>
              <a:rPr lang="es-PE" altLang="en-US" sz="1500" dirty="0">
                <a:solidFill>
                  <a:srgbClr val="25202D"/>
                </a:solidFill>
                <a:latin typeface="Inter" pitchFamily="34" charset="0"/>
                <a:ea typeface="Inter" pitchFamily="34" charset="-122"/>
                <a:cs typeface="Inter" pitchFamily="34" charset="-120"/>
              </a:rPr>
              <a:t>RPO objetivo: pérdida máxima de datos desde la última copia válida.</a:t>
            </a:r>
            <a:endParaRPr lang="es-PE" sz="1500" dirty="0"/>
          </a:p>
          <a:p>
            <a:pPr algn="l" indent="0" marL="0">
              <a:lnSpc>
                <a:spcPct val="122000"/>
              </a:lnSpc>
              <a:buNone/>
            </a:pPr>
            <a:r>
              <a:rPr lang="es-PE" altLang="en-US" sz="1500" dirty="0">
                <a:solidFill>
                  <a:srgbClr val="25202D"/>
                </a:solidFill>
                <a:latin typeface="Inter" pitchFamily="34" charset="0"/>
                <a:ea typeface="Inter" pitchFamily="34" charset="-122"/>
                <a:cs typeface="Inter" pitchFamily="34" charset="-120"/>
              </a:rPr>
              <a:t>Depende de cumplir el respaldo semanal.</a:t>
            </a:r>
            <a:endParaRPr lang="es-PE" sz="1500" dirty="0"/>
          </a:p>
        </p:txBody>
      </p:sp>
      <p:sp>
        <p:nvSpPr>
          <p:cNvPr id="27" name="Shape 24"/>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8" name="Text 25"/>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El seed incorpora configuración; no recupera pedidos, numeración, historial ni archivos.</a:t>
            </a:r>
            <a:endParaRPr lang="es-PE"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09 · RECUPERACIÓN</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Una copia útil debe poder restaurarse</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Ensayo en una base aislada, con efectos externos deshabilitados.</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03 · Restauración medida</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16 / 24</a:t>
            </a:r>
            <a:endParaRPr lang="es-PE" sz="1050" dirty="0"/>
          </a:p>
        </p:txBody>
      </p:sp>
      <p:sp>
        <p:nvSpPr>
          <p:cNvPr id="11" name="Shape 8"/>
          <p:cNvSpPr/>
          <p:nvPr/>
        </p:nvSpPr>
        <p:spPr>
          <a:xfrm>
            <a:off x="4013200" y="312420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2" name="Shape 9"/>
          <p:cNvSpPr/>
          <p:nvPr/>
        </p:nvSpPr>
        <p:spPr>
          <a:xfrm>
            <a:off x="7874000" y="312420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3" name="Shape 10"/>
          <p:cNvSpPr/>
          <p:nvPr/>
        </p:nvSpPr>
        <p:spPr>
          <a:xfrm>
            <a:off x="457200" y="2133600"/>
            <a:ext cx="3556000" cy="1981200"/>
          </a:xfrm>
          <a:prstGeom prst="roundRect">
            <a:avLst>
              <a:gd name="adj" fmla="val 2769"/>
            </a:avLst>
          </a:prstGeom>
          <a:solidFill>
            <a:srgbClr val="F3EAFC"/>
          </a:solidFill>
          <a:ln w="9525">
            <a:solidFill>
              <a:srgbClr val="6802C1"/>
            </a:solidFill>
            <a:prstDash val="solid"/>
          </a:ln>
        </p:spPr>
      </p:sp>
      <p:sp>
        <p:nvSpPr>
          <p:cNvPr id="14" name="Text 11"/>
          <p:cNvSpPr txBox="1"/>
          <p:nvPr/>
        </p:nvSpPr>
        <p:spPr>
          <a:xfrm>
            <a:off x="647700" y="22860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802C1"/>
                </a:solidFill>
                <a:latin typeface="Inter" pitchFamily="34" charset="0"/>
                <a:ea typeface="Inter" pitchFamily="34" charset="-122"/>
                <a:cs typeface="Inter" pitchFamily="34" charset="-120"/>
              </a:rPr>
              <a:t>01</a:t>
            </a:r>
            <a:endParaRPr lang="es-PE" sz="900" dirty="0"/>
          </a:p>
        </p:txBody>
      </p:sp>
      <p:sp>
        <p:nvSpPr>
          <p:cNvPr id="15" name="Text 12"/>
          <p:cNvSpPr txBox="1"/>
          <p:nvPr/>
        </p:nvSpPr>
        <p:spPr>
          <a:xfrm>
            <a:off x="647700" y="25908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Restaurar aislado</a:t>
            </a:r>
            <a:endParaRPr lang="es-PE" sz="1725" dirty="0"/>
          </a:p>
        </p:txBody>
      </p:sp>
      <p:sp>
        <p:nvSpPr>
          <p:cNvPr id="16" name="Text 13"/>
          <p:cNvSpPr txBox="1"/>
          <p:nvPr/>
        </p:nvSpPr>
        <p:spPr>
          <a:xfrm>
            <a:off x="647700" y="3048000"/>
            <a:ext cx="3175000" cy="9906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Descargar, descifrar</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y recuperar la base.</a:t>
            </a:r>
            <a:endParaRPr lang="es-PE" sz="1350" dirty="0"/>
          </a:p>
        </p:txBody>
      </p:sp>
      <p:sp>
        <p:nvSpPr>
          <p:cNvPr id="17" name="Shape 14"/>
          <p:cNvSpPr/>
          <p:nvPr/>
        </p:nvSpPr>
        <p:spPr>
          <a:xfrm>
            <a:off x="4318000" y="2133600"/>
            <a:ext cx="3556000" cy="1981200"/>
          </a:xfrm>
          <a:prstGeom prst="roundRect">
            <a:avLst>
              <a:gd name="adj" fmla="val 2769"/>
            </a:avLst>
          </a:prstGeom>
          <a:solidFill>
            <a:srgbClr val="F8F7FA"/>
          </a:solidFill>
          <a:ln w="9525">
            <a:solidFill>
              <a:srgbClr val="DDD7E5"/>
            </a:solidFill>
            <a:prstDash val="solid"/>
          </a:ln>
        </p:spPr>
      </p:sp>
      <p:sp>
        <p:nvSpPr>
          <p:cNvPr id="18" name="Text 15"/>
          <p:cNvSpPr txBox="1"/>
          <p:nvPr/>
        </p:nvSpPr>
        <p:spPr>
          <a:xfrm>
            <a:off x="4508500" y="22860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02</a:t>
            </a:r>
            <a:endParaRPr lang="es-PE" sz="900" dirty="0"/>
          </a:p>
        </p:txBody>
      </p:sp>
      <p:sp>
        <p:nvSpPr>
          <p:cNvPr id="19" name="Text 16"/>
          <p:cNvSpPr txBox="1"/>
          <p:nvPr/>
        </p:nvSpPr>
        <p:spPr>
          <a:xfrm>
            <a:off x="4508500" y="25908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Verificar</a:t>
            </a:r>
            <a:endParaRPr lang="es-PE" sz="1725" dirty="0"/>
          </a:p>
        </p:txBody>
      </p:sp>
      <p:sp>
        <p:nvSpPr>
          <p:cNvPr id="20" name="Text 17"/>
          <p:cNvSpPr txBox="1"/>
          <p:nvPr/>
        </p:nvSpPr>
        <p:spPr>
          <a:xfrm>
            <a:off x="4508500" y="3048000"/>
            <a:ext cx="3175000" cy="9906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Integridad, relaciones</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y referencias a archivos.</a:t>
            </a:r>
            <a:endParaRPr lang="es-PE" sz="1350" dirty="0"/>
          </a:p>
        </p:txBody>
      </p:sp>
      <p:sp>
        <p:nvSpPr>
          <p:cNvPr id="21" name="Shape 18"/>
          <p:cNvSpPr/>
          <p:nvPr/>
        </p:nvSpPr>
        <p:spPr>
          <a:xfrm>
            <a:off x="8178800" y="2133600"/>
            <a:ext cx="3556000" cy="1981200"/>
          </a:xfrm>
          <a:prstGeom prst="roundRect">
            <a:avLst>
              <a:gd name="adj" fmla="val 2769"/>
            </a:avLst>
          </a:prstGeom>
          <a:solidFill>
            <a:srgbClr val="F8F7FA"/>
          </a:solidFill>
          <a:ln w="9525">
            <a:solidFill>
              <a:srgbClr val="DDD7E5"/>
            </a:solidFill>
            <a:prstDash val="solid"/>
          </a:ln>
        </p:spPr>
      </p:sp>
      <p:sp>
        <p:nvSpPr>
          <p:cNvPr id="22" name="Text 19"/>
          <p:cNvSpPr txBox="1"/>
          <p:nvPr/>
        </p:nvSpPr>
        <p:spPr>
          <a:xfrm>
            <a:off x="8369300" y="22860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03</a:t>
            </a:r>
            <a:endParaRPr lang="es-PE" sz="900" dirty="0"/>
          </a:p>
        </p:txBody>
      </p:sp>
      <p:sp>
        <p:nvSpPr>
          <p:cNvPr id="23" name="Text 20"/>
          <p:cNvSpPr txBox="1"/>
          <p:nvPr/>
        </p:nvSpPr>
        <p:spPr>
          <a:xfrm>
            <a:off x="8369300" y="25908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Revisar accesos</a:t>
            </a:r>
            <a:endParaRPr lang="es-PE" sz="1725" dirty="0"/>
          </a:p>
        </p:txBody>
      </p:sp>
      <p:sp>
        <p:nvSpPr>
          <p:cNvPr id="24" name="Text 21"/>
          <p:cNvSpPr txBox="1"/>
          <p:nvPr/>
        </p:nvSpPr>
        <p:spPr>
          <a:xfrm>
            <a:off x="8369300" y="3048000"/>
            <a:ext cx="3175000" cy="9906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Reaplicar revocaciones</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antes de abrir tráfico.</a:t>
            </a:r>
            <a:endParaRPr lang="es-PE" sz="1350" dirty="0"/>
          </a:p>
        </p:txBody>
      </p:sp>
      <p:sp>
        <p:nvSpPr>
          <p:cNvPr id="25" name="Text 22"/>
          <p:cNvSpPr txBox="1"/>
          <p:nvPr/>
        </p:nvSpPr>
        <p:spPr>
          <a:xfrm>
            <a:off x="457200" y="4533900"/>
            <a:ext cx="1905000" cy="533400"/>
          </a:xfrm>
          <a:prstGeom prst="rect">
            <a:avLst/>
          </a:prstGeom>
          <a:noFill/>
          <a:ln/>
        </p:spPr>
        <p:txBody>
          <a:bodyPr wrap="none" lIns="0" tIns="0" rIns="0" bIns="0" rtlCol="0" anchor="t"/>
          <a:lstStyle/>
          <a:p>
            <a:pPr algn="l" indent="0" marL="0">
              <a:lnSpc>
                <a:spcPct val="122000"/>
              </a:lnSpc>
              <a:buNone/>
            </a:pPr>
            <a:r>
              <a:rPr lang="es-PE" altLang="en-US" sz="3000" b="1" dirty="0">
                <a:solidFill>
                  <a:srgbClr val="6802C1"/>
                </a:solidFill>
                <a:latin typeface="Inter" pitchFamily="34" charset="0"/>
                <a:ea typeface="Inter" pitchFamily="34" charset="-122"/>
                <a:cs typeface="Inter" pitchFamily="34" charset="-120"/>
              </a:rPr>
              <a:t>4 horas</a:t>
            </a:r>
            <a:endParaRPr lang="es-PE" sz="3000" dirty="0"/>
          </a:p>
        </p:txBody>
      </p:sp>
      <p:sp>
        <p:nvSpPr>
          <p:cNvPr id="26" name="Text 23"/>
          <p:cNvSpPr txBox="1"/>
          <p:nvPr/>
        </p:nvSpPr>
        <p:spPr>
          <a:xfrm>
            <a:off x="2667000" y="4533900"/>
            <a:ext cx="8839200" cy="609600"/>
          </a:xfrm>
          <a:prstGeom prst="rect">
            <a:avLst/>
          </a:prstGeom>
          <a:noFill/>
          <a:ln/>
        </p:spPr>
        <p:txBody>
          <a:bodyPr wrap="none" lIns="0" tIns="0" rIns="0" bIns="0" rtlCol="0" anchor="t"/>
          <a:lstStyle/>
          <a:p>
            <a:pPr algn="l" indent="0" marL="0">
              <a:lnSpc>
                <a:spcPct val="122000"/>
              </a:lnSpc>
              <a:buNone/>
            </a:pPr>
            <a:r>
              <a:rPr lang="es-PE" altLang="en-US" sz="1500" dirty="0">
                <a:solidFill>
                  <a:srgbClr val="25202D"/>
                </a:solidFill>
                <a:latin typeface="Inter" pitchFamily="34" charset="0"/>
                <a:ea typeface="Inter" pitchFamily="34" charset="-122"/>
                <a:cs typeface="Inter" pitchFamily="34" charset="-120"/>
              </a:rPr>
              <a:t>RTO objetivo: tiempo para recuperar la operación.</a:t>
            </a:r>
            <a:endParaRPr lang="es-PE" sz="1500" dirty="0"/>
          </a:p>
          <a:p>
            <a:pPr algn="l" indent="0" marL="0">
              <a:lnSpc>
                <a:spcPct val="122000"/>
              </a:lnSpc>
              <a:buNone/>
            </a:pPr>
            <a:r>
              <a:rPr lang="es-PE" altLang="en-US" sz="1500" dirty="0">
                <a:solidFill>
                  <a:srgbClr val="25202D"/>
                </a:solidFill>
                <a:latin typeface="Inter" pitchFamily="34" charset="0"/>
                <a:ea typeface="Inter" pitchFamily="34" charset="-122"/>
                <a:cs typeface="Inter" pitchFamily="34" charset="-120"/>
              </a:rPr>
              <a:t>Pendiente de demostrar con una restauración medida.</a:t>
            </a:r>
            <a:endParaRPr lang="es-PE" sz="1500" dirty="0"/>
          </a:p>
        </p:txBody>
      </p:sp>
      <p:sp>
        <p:nvSpPr>
          <p:cNvPr id="27" name="Shape 24"/>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8" name="Text 25"/>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Nunca restaurar sobre producción para comprobar que una copia funciona.</a:t>
            </a:r>
            <a:endParaRPr lang="es-PE"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10 · GUÍA DEL COMPRADOR</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Comprar, pagar y consultar desde la página institucional</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Un enlace privado reúne el seguimiento y los documentos de cada pedido.</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04 · Comprador</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17 / 24</a:t>
            </a:r>
            <a:endParaRPr lang="es-PE" sz="1050" dirty="0"/>
          </a:p>
        </p:txBody>
      </p:sp>
      <p:sp>
        <p:nvSpPr>
          <p:cNvPr id="11" name="Shape 8"/>
          <p:cNvSpPr/>
          <p:nvPr/>
        </p:nvSpPr>
        <p:spPr>
          <a:xfrm>
            <a:off x="4013200" y="352425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2" name="Shape 9"/>
          <p:cNvSpPr/>
          <p:nvPr/>
        </p:nvSpPr>
        <p:spPr>
          <a:xfrm>
            <a:off x="7874000" y="352425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3" name="Shape 10"/>
          <p:cNvSpPr/>
          <p:nvPr/>
        </p:nvSpPr>
        <p:spPr>
          <a:xfrm>
            <a:off x="457200" y="2400300"/>
            <a:ext cx="3556000" cy="2247900"/>
          </a:xfrm>
          <a:prstGeom prst="roundRect">
            <a:avLst>
              <a:gd name="adj" fmla="val 2441"/>
            </a:avLst>
          </a:prstGeom>
          <a:solidFill>
            <a:srgbClr val="F3EAFC"/>
          </a:solidFill>
          <a:ln w="9525">
            <a:solidFill>
              <a:srgbClr val="6802C1"/>
            </a:solidFill>
            <a:prstDash val="solid"/>
          </a:ln>
        </p:spPr>
      </p:sp>
      <p:sp>
        <p:nvSpPr>
          <p:cNvPr id="14" name="Text 11"/>
          <p:cNvSpPr txBox="1"/>
          <p:nvPr/>
        </p:nvSpPr>
        <p:spPr>
          <a:xfrm>
            <a:off x="6477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802C1"/>
                </a:solidFill>
                <a:latin typeface="Inter" pitchFamily="34" charset="0"/>
                <a:ea typeface="Inter" pitchFamily="34" charset="-122"/>
                <a:cs typeface="Inter" pitchFamily="34" charset="-120"/>
              </a:rPr>
              <a:t>01</a:t>
            </a:r>
            <a:endParaRPr lang="es-PE" sz="900" dirty="0"/>
          </a:p>
        </p:txBody>
      </p:sp>
      <p:sp>
        <p:nvSpPr>
          <p:cNvPr id="15" name="Text 12"/>
          <p:cNvSpPr txBox="1"/>
          <p:nvPr/>
        </p:nvSpPr>
        <p:spPr>
          <a:xfrm>
            <a:off x="6477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Elegir</a:t>
            </a:r>
            <a:endParaRPr lang="es-PE" sz="1725" dirty="0"/>
          </a:p>
        </p:txBody>
      </p:sp>
      <p:sp>
        <p:nvSpPr>
          <p:cNvPr id="16" name="Text 13"/>
          <p:cNvSpPr txBox="1"/>
          <p:nvPr/>
        </p:nvSpPr>
        <p:spPr>
          <a:xfrm>
            <a:off x="647700" y="3314700"/>
            <a:ext cx="3175000" cy="1257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Publicaciones, cantidades</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y datos de comprador.</a:t>
            </a:r>
            <a:endParaRPr lang="es-PE" sz="1350" dirty="0"/>
          </a:p>
        </p:txBody>
      </p:sp>
      <p:sp>
        <p:nvSpPr>
          <p:cNvPr id="17" name="Shape 14"/>
          <p:cNvSpPr/>
          <p:nvPr/>
        </p:nvSpPr>
        <p:spPr>
          <a:xfrm>
            <a:off x="4318000" y="2400300"/>
            <a:ext cx="3556000" cy="2247900"/>
          </a:xfrm>
          <a:prstGeom prst="roundRect">
            <a:avLst>
              <a:gd name="adj" fmla="val 2441"/>
            </a:avLst>
          </a:prstGeom>
          <a:solidFill>
            <a:srgbClr val="F8F7FA"/>
          </a:solidFill>
          <a:ln w="9525">
            <a:solidFill>
              <a:srgbClr val="DDD7E5"/>
            </a:solidFill>
            <a:prstDash val="solid"/>
          </a:ln>
        </p:spPr>
      </p:sp>
      <p:sp>
        <p:nvSpPr>
          <p:cNvPr id="18" name="Text 15"/>
          <p:cNvSpPr txBox="1"/>
          <p:nvPr/>
        </p:nvSpPr>
        <p:spPr>
          <a:xfrm>
            <a:off x="45085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02</a:t>
            </a:r>
            <a:endParaRPr lang="es-PE" sz="900" dirty="0"/>
          </a:p>
        </p:txBody>
      </p:sp>
      <p:sp>
        <p:nvSpPr>
          <p:cNvPr id="19" name="Text 16"/>
          <p:cNvSpPr txBox="1"/>
          <p:nvPr/>
        </p:nvSpPr>
        <p:spPr>
          <a:xfrm>
            <a:off x="45085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Confirmar</a:t>
            </a:r>
            <a:endParaRPr lang="es-PE" sz="1725" dirty="0"/>
          </a:p>
        </p:txBody>
      </p:sp>
      <p:sp>
        <p:nvSpPr>
          <p:cNvPr id="20" name="Text 17"/>
          <p:cNvSpPr txBox="1"/>
          <p:nvPr/>
        </p:nvSpPr>
        <p:spPr>
          <a:xfrm>
            <a:off x="4508500" y="3314700"/>
            <a:ext cx="3175000" cy="1257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Recojo o delivery,</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facturación y política.</a:t>
            </a:r>
            <a:endParaRPr lang="es-PE" sz="1350" dirty="0"/>
          </a:p>
        </p:txBody>
      </p:sp>
      <p:sp>
        <p:nvSpPr>
          <p:cNvPr id="21" name="Shape 18"/>
          <p:cNvSpPr/>
          <p:nvPr/>
        </p:nvSpPr>
        <p:spPr>
          <a:xfrm>
            <a:off x="8178800" y="2400300"/>
            <a:ext cx="3556000" cy="2247900"/>
          </a:xfrm>
          <a:prstGeom prst="roundRect">
            <a:avLst>
              <a:gd name="adj" fmla="val 2441"/>
            </a:avLst>
          </a:prstGeom>
          <a:solidFill>
            <a:srgbClr val="F8F7FA"/>
          </a:solidFill>
          <a:ln w="9525">
            <a:solidFill>
              <a:srgbClr val="DDD7E5"/>
            </a:solidFill>
            <a:prstDash val="solid"/>
          </a:ln>
        </p:spPr>
      </p:sp>
      <p:sp>
        <p:nvSpPr>
          <p:cNvPr id="22" name="Text 19"/>
          <p:cNvSpPr txBox="1"/>
          <p:nvPr/>
        </p:nvSpPr>
        <p:spPr>
          <a:xfrm>
            <a:off x="83693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03</a:t>
            </a:r>
            <a:endParaRPr lang="es-PE" sz="900" dirty="0"/>
          </a:p>
        </p:txBody>
      </p:sp>
      <p:sp>
        <p:nvSpPr>
          <p:cNvPr id="23" name="Text 20"/>
          <p:cNvSpPr txBox="1"/>
          <p:nvPr/>
        </p:nvSpPr>
        <p:spPr>
          <a:xfrm>
            <a:off x="83693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Pagar y seguir</a:t>
            </a:r>
            <a:endParaRPr lang="es-PE" sz="1725" dirty="0"/>
          </a:p>
        </p:txBody>
      </p:sp>
      <p:sp>
        <p:nvSpPr>
          <p:cNvPr id="24" name="Text 21"/>
          <p:cNvSpPr txBox="1"/>
          <p:nvPr/>
        </p:nvSpPr>
        <p:spPr>
          <a:xfrm>
            <a:off x="8369300" y="3314700"/>
            <a:ext cx="3175000" cy="1257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Depositar, cargar recibos</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y consultar las etapas.</a:t>
            </a:r>
            <a:endParaRPr lang="es-PE" sz="1350" dirty="0"/>
          </a:p>
        </p:txBody>
      </p:sp>
      <p:sp>
        <p:nvSpPr>
          <p:cNvPr id="25" name="Shape 22"/>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6" name="Text 23"/>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En pedidos mixtos: dos depósitos y una zona de carga por unidad.</a:t>
            </a:r>
            <a:endParaRPr lang="es-PE"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11 · GUÍA DE FONDO EDITORIAL</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Tomar atención y avanzar por cuatro pestañas</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Solo el gestor personal asignado ejecuta las decisiones del pedido.</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04 · Gestor de Fondo Editorial</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18 / 24</a:t>
            </a:r>
            <a:endParaRPr lang="es-PE" sz="1050" dirty="0"/>
          </a:p>
        </p:txBody>
      </p:sp>
      <p:sp>
        <p:nvSpPr>
          <p:cNvPr id="11" name="Shape 8"/>
          <p:cNvSpPr/>
          <p:nvPr/>
        </p:nvSpPr>
        <p:spPr>
          <a:xfrm>
            <a:off x="3048000" y="350520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2" name="Shape 9"/>
          <p:cNvSpPr/>
          <p:nvPr/>
        </p:nvSpPr>
        <p:spPr>
          <a:xfrm>
            <a:off x="5943600" y="350520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3" name="Shape 10"/>
          <p:cNvSpPr/>
          <p:nvPr/>
        </p:nvSpPr>
        <p:spPr>
          <a:xfrm>
            <a:off x="8839200" y="350520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4" name="Shape 11"/>
          <p:cNvSpPr/>
          <p:nvPr/>
        </p:nvSpPr>
        <p:spPr>
          <a:xfrm>
            <a:off x="457200" y="2400300"/>
            <a:ext cx="2590800" cy="2209800"/>
          </a:xfrm>
          <a:prstGeom prst="roundRect">
            <a:avLst>
              <a:gd name="adj" fmla="val 2483"/>
            </a:avLst>
          </a:prstGeom>
          <a:solidFill>
            <a:srgbClr val="F3EAFC"/>
          </a:solidFill>
          <a:ln w="9525">
            <a:solidFill>
              <a:srgbClr val="6802C1"/>
            </a:solidFill>
            <a:prstDash val="solid"/>
          </a:ln>
        </p:spPr>
      </p:sp>
      <p:sp>
        <p:nvSpPr>
          <p:cNvPr id="15" name="Text 12"/>
          <p:cNvSpPr txBox="1"/>
          <p:nvPr/>
        </p:nvSpPr>
        <p:spPr>
          <a:xfrm>
            <a:off x="647700" y="2552700"/>
            <a:ext cx="22098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802C1"/>
                </a:solidFill>
                <a:latin typeface="Inter" pitchFamily="34" charset="0"/>
                <a:ea typeface="Inter" pitchFamily="34" charset="-122"/>
                <a:cs typeface="Inter" pitchFamily="34" charset="-120"/>
              </a:rPr>
              <a:t>01</a:t>
            </a:r>
            <a:endParaRPr lang="es-PE" sz="900" dirty="0"/>
          </a:p>
        </p:txBody>
      </p:sp>
      <p:sp>
        <p:nvSpPr>
          <p:cNvPr id="16" name="Text 13"/>
          <p:cNvSpPr txBox="1"/>
          <p:nvPr/>
        </p:nvSpPr>
        <p:spPr>
          <a:xfrm>
            <a:off x="647700" y="2857500"/>
            <a:ext cx="22098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Atención</a:t>
            </a:r>
            <a:endParaRPr lang="es-PE" sz="1725" dirty="0"/>
          </a:p>
        </p:txBody>
      </p:sp>
      <p:sp>
        <p:nvSpPr>
          <p:cNvPr id="17" name="Text 14"/>
          <p:cNvSpPr txBox="1"/>
          <p:nvPr/>
        </p:nvSpPr>
        <p:spPr>
          <a:xfrm>
            <a:off x="647700" y="3314700"/>
            <a:ext cx="2209800" cy="12192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Tomar el caso y</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revisar sus datos.</a:t>
            </a:r>
            <a:endParaRPr lang="es-PE" sz="1350" dirty="0"/>
          </a:p>
        </p:txBody>
      </p:sp>
      <p:sp>
        <p:nvSpPr>
          <p:cNvPr id="18" name="Shape 15"/>
          <p:cNvSpPr/>
          <p:nvPr/>
        </p:nvSpPr>
        <p:spPr>
          <a:xfrm>
            <a:off x="3352800" y="2400300"/>
            <a:ext cx="2590800" cy="2209800"/>
          </a:xfrm>
          <a:prstGeom prst="roundRect">
            <a:avLst>
              <a:gd name="adj" fmla="val 2483"/>
            </a:avLst>
          </a:prstGeom>
          <a:solidFill>
            <a:srgbClr val="F8F7FA"/>
          </a:solidFill>
          <a:ln w="9525">
            <a:solidFill>
              <a:srgbClr val="DDD7E5"/>
            </a:solidFill>
            <a:prstDash val="solid"/>
          </a:ln>
        </p:spPr>
      </p:sp>
      <p:sp>
        <p:nvSpPr>
          <p:cNvPr id="19" name="Text 16"/>
          <p:cNvSpPr txBox="1"/>
          <p:nvPr/>
        </p:nvSpPr>
        <p:spPr>
          <a:xfrm>
            <a:off x="3543300" y="2552700"/>
            <a:ext cx="22098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02</a:t>
            </a:r>
            <a:endParaRPr lang="es-PE" sz="900" dirty="0"/>
          </a:p>
        </p:txBody>
      </p:sp>
      <p:sp>
        <p:nvSpPr>
          <p:cNvPr id="20" name="Text 17"/>
          <p:cNvSpPr txBox="1"/>
          <p:nvPr/>
        </p:nvSpPr>
        <p:spPr>
          <a:xfrm>
            <a:off x="3543300" y="2857500"/>
            <a:ext cx="22098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Pagos</a:t>
            </a:r>
            <a:endParaRPr lang="es-PE" sz="1725" dirty="0"/>
          </a:p>
        </p:txBody>
      </p:sp>
      <p:sp>
        <p:nvSpPr>
          <p:cNvPr id="21" name="Text 18"/>
          <p:cNvSpPr txBox="1"/>
          <p:nvPr/>
        </p:nvSpPr>
        <p:spPr>
          <a:xfrm>
            <a:off x="3543300" y="3314700"/>
            <a:ext cx="2209800" cy="12192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Validar depósitos</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y subsanaciones.</a:t>
            </a:r>
            <a:endParaRPr lang="es-PE" sz="1350" dirty="0"/>
          </a:p>
        </p:txBody>
      </p:sp>
      <p:sp>
        <p:nvSpPr>
          <p:cNvPr id="22" name="Shape 19"/>
          <p:cNvSpPr/>
          <p:nvPr/>
        </p:nvSpPr>
        <p:spPr>
          <a:xfrm>
            <a:off x="6248400" y="2400300"/>
            <a:ext cx="2590800" cy="2209800"/>
          </a:xfrm>
          <a:prstGeom prst="roundRect">
            <a:avLst>
              <a:gd name="adj" fmla="val 2483"/>
            </a:avLst>
          </a:prstGeom>
          <a:solidFill>
            <a:srgbClr val="F8F7FA"/>
          </a:solidFill>
          <a:ln w="9525">
            <a:solidFill>
              <a:srgbClr val="DDD7E5"/>
            </a:solidFill>
            <a:prstDash val="solid"/>
          </a:ln>
        </p:spPr>
      </p:sp>
      <p:sp>
        <p:nvSpPr>
          <p:cNvPr id="23" name="Text 20"/>
          <p:cNvSpPr txBox="1"/>
          <p:nvPr/>
        </p:nvSpPr>
        <p:spPr>
          <a:xfrm>
            <a:off x="6438900" y="2552700"/>
            <a:ext cx="22098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03</a:t>
            </a:r>
            <a:endParaRPr lang="es-PE" sz="900" dirty="0"/>
          </a:p>
        </p:txBody>
      </p:sp>
      <p:sp>
        <p:nvSpPr>
          <p:cNvPr id="24" name="Text 21"/>
          <p:cNvSpPr txBox="1"/>
          <p:nvPr/>
        </p:nvSpPr>
        <p:spPr>
          <a:xfrm>
            <a:off x="6438900" y="2857500"/>
            <a:ext cx="22098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Distribución</a:t>
            </a:r>
            <a:endParaRPr lang="es-PE" sz="1725" dirty="0"/>
          </a:p>
        </p:txBody>
      </p:sp>
      <p:sp>
        <p:nvSpPr>
          <p:cNvPr id="25" name="Text 22"/>
          <p:cNvSpPr txBox="1"/>
          <p:nvPr/>
        </p:nvSpPr>
        <p:spPr>
          <a:xfrm>
            <a:off x="6438900" y="3314700"/>
            <a:ext cx="2209800" cy="12192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Courier o recojo</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con apoyo definido.</a:t>
            </a:r>
            <a:endParaRPr lang="es-PE" sz="1350" dirty="0"/>
          </a:p>
        </p:txBody>
      </p:sp>
      <p:sp>
        <p:nvSpPr>
          <p:cNvPr id="26" name="Shape 23"/>
          <p:cNvSpPr/>
          <p:nvPr/>
        </p:nvSpPr>
        <p:spPr>
          <a:xfrm>
            <a:off x="9144000" y="2400300"/>
            <a:ext cx="2590800" cy="2209800"/>
          </a:xfrm>
          <a:prstGeom prst="roundRect">
            <a:avLst>
              <a:gd name="adj" fmla="val 2483"/>
            </a:avLst>
          </a:prstGeom>
          <a:solidFill>
            <a:srgbClr val="F8F7FA"/>
          </a:solidFill>
          <a:ln w="9525">
            <a:solidFill>
              <a:srgbClr val="DDD7E5"/>
            </a:solidFill>
            <a:prstDash val="solid"/>
          </a:ln>
        </p:spPr>
      </p:sp>
      <p:sp>
        <p:nvSpPr>
          <p:cNvPr id="27" name="Text 24"/>
          <p:cNvSpPr txBox="1"/>
          <p:nvPr/>
        </p:nvSpPr>
        <p:spPr>
          <a:xfrm>
            <a:off x="9334500" y="2552700"/>
            <a:ext cx="22098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04</a:t>
            </a:r>
            <a:endParaRPr lang="es-PE" sz="900" dirty="0"/>
          </a:p>
        </p:txBody>
      </p:sp>
      <p:sp>
        <p:nvSpPr>
          <p:cNvPr id="28" name="Text 25"/>
          <p:cNvSpPr txBox="1"/>
          <p:nvPr/>
        </p:nvSpPr>
        <p:spPr>
          <a:xfrm>
            <a:off x="9334500" y="2857500"/>
            <a:ext cx="22098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Entrega</a:t>
            </a:r>
            <a:endParaRPr lang="es-PE" sz="1725" dirty="0"/>
          </a:p>
        </p:txBody>
      </p:sp>
      <p:sp>
        <p:nvSpPr>
          <p:cNvPr id="29" name="Text 26"/>
          <p:cNvSpPr txBox="1"/>
          <p:nvPr/>
        </p:nvSpPr>
        <p:spPr>
          <a:xfrm>
            <a:off x="9334500" y="3314700"/>
            <a:ext cx="2209800" cy="12192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Confirmar recepción;</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evidencia opcional.</a:t>
            </a:r>
            <a:endParaRPr lang="es-PE" sz="1350" dirty="0"/>
          </a:p>
        </p:txBody>
      </p:sp>
      <p:sp>
        <p:nvSpPr>
          <p:cNvPr id="30" name="Shape 27"/>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31" name="Text 28"/>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Verificar pagos requiere validación institucional del depósito; un archivo cargado no lo acredita.</a:t>
            </a:r>
            <a:endParaRPr lang="es-PE"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12 · GUÍA DE TESORERÍA</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El PDF se emite fuera y se finaliza dentro del sistema</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Cargar un archivo crea un borrador; finalizar confirma la solicitud.</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04 · Operador de Tesorería Recaudación</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19 / 24</a:t>
            </a:r>
            <a:endParaRPr lang="es-PE" sz="1050" dirty="0"/>
          </a:p>
        </p:txBody>
      </p:sp>
      <p:sp>
        <p:nvSpPr>
          <p:cNvPr id="11" name="Shape 8"/>
          <p:cNvSpPr/>
          <p:nvPr/>
        </p:nvSpPr>
        <p:spPr>
          <a:xfrm>
            <a:off x="4013200" y="352425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2" name="Shape 9"/>
          <p:cNvSpPr/>
          <p:nvPr/>
        </p:nvSpPr>
        <p:spPr>
          <a:xfrm>
            <a:off x="7874000" y="3524250"/>
            <a:ext cx="304800" cy="9525"/>
          </a:xfrm>
          <a:custGeom>
            <a:avLst/>
            <a:gdLst/>
            <a:ahLst/>
            <a:cxnLst/>
            <a:rect l="l" t="t" r="r" b="b"/>
            <a:pathLst>
              <a:path w="304800" h="9525">
                <a:moveTo>
                  <a:pt x="0" y="0"/>
                </a:moveTo>
                <a:lnTo>
                  <a:pt x="304800" y="0"/>
                </a:lnTo>
              </a:path>
            </a:pathLst>
          </a:custGeom>
          <a:noFill/>
          <a:ln w="19050">
            <a:solidFill>
              <a:srgbClr val="625C6D"/>
            </a:solidFill>
            <a:prstDash val="solid"/>
            <a:tailEnd type="triangle"/>
          </a:ln>
        </p:spPr>
      </p:sp>
      <p:sp>
        <p:nvSpPr>
          <p:cNvPr id="13" name="Shape 10"/>
          <p:cNvSpPr/>
          <p:nvPr/>
        </p:nvSpPr>
        <p:spPr>
          <a:xfrm>
            <a:off x="457200" y="2400300"/>
            <a:ext cx="3556000" cy="2247900"/>
          </a:xfrm>
          <a:prstGeom prst="roundRect">
            <a:avLst>
              <a:gd name="adj" fmla="val 2441"/>
            </a:avLst>
          </a:prstGeom>
          <a:solidFill>
            <a:srgbClr val="F3EAFC"/>
          </a:solidFill>
          <a:ln w="9525">
            <a:solidFill>
              <a:srgbClr val="6802C1"/>
            </a:solidFill>
            <a:prstDash val="solid"/>
          </a:ln>
        </p:spPr>
      </p:sp>
      <p:sp>
        <p:nvSpPr>
          <p:cNvPr id="14" name="Text 11"/>
          <p:cNvSpPr txBox="1"/>
          <p:nvPr/>
        </p:nvSpPr>
        <p:spPr>
          <a:xfrm>
            <a:off x="6477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802C1"/>
                </a:solidFill>
                <a:latin typeface="Inter" pitchFamily="34" charset="0"/>
                <a:ea typeface="Inter" pitchFamily="34" charset="-122"/>
                <a:cs typeface="Inter" pitchFamily="34" charset="-120"/>
              </a:rPr>
              <a:t>01</a:t>
            </a:r>
            <a:endParaRPr lang="es-PE" sz="900" dirty="0"/>
          </a:p>
        </p:txBody>
      </p:sp>
      <p:sp>
        <p:nvSpPr>
          <p:cNvPr id="15" name="Text 12"/>
          <p:cNvSpPr txBox="1"/>
          <p:nvPr/>
        </p:nvSpPr>
        <p:spPr>
          <a:xfrm>
            <a:off x="6477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Revisar</a:t>
            </a:r>
            <a:endParaRPr lang="es-PE" sz="1725" dirty="0"/>
          </a:p>
        </p:txBody>
      </p:sp>
      <p:sp>
        <p:nvSpPr>
          <p:cNvPr id="16" name="Text 13"/>
          <p:cNvSpPr txBox="1"/>
          <p:nvPr/>
        </p:nvSpPr>
        <p:spPr>
          <a:xfrm>
            <a:off x="647700" y="3314700"/>
            <a:ext cx="3175000" cy="1257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Tomar solicitud y</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validar datos de emisión.</a:t>
            </a:r>
            <a:endParaRPr lang="es-PE" sz="1350" dirty="0"/>
          </a:p>
        </p:txBody>
      </p:sp>
      <p:sp>
        <p:nvSpPr>
          <p:cNvPr id="17" name="Shape 14"/>
          <p:cNvSpPr/>
          <p:nvPr/>
        </p:nvSpPr>
        <p:spPr>
          <a:xfrm>
            <a:off x="4318000" y="2400300"/>
            <a:ext cx="3556000" cy="2247900"/>
          </a:xfrm>
          <a:prstGeom prst="roundRect">
            <a:avLst>
              <a:gd name="adj" fmla="val 2441"/>
            </a:avLst>
          </a:prstGeom>
          <a:solidFill>
            <a:srgbClr val="F8F7FA"/>
          </a:solidFill>
          <a:ln w="9525">
            <a:solidFill>
              <a:srgbClr val="DDD7E5"/>
            </a:solidFill>
            <a:prstDash val="solid"/>
          </a:ln>
        </p:spPr>
      </p:sp>
      <p:sp>
        <p:nvSpPr>
          <p:cNvPr id="18" name="Text 15"/>
          <p:cNvSpPr txBox="1"/>
          <p:nvPr/>
        </p:nvSpPr>
        <p:spPr>
          <a:xfrm>
            <a:off x="45085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02</a:t>
            </a:r>
            <a:endParaRPr lang="es-PE" sz="900" dirty="0"/>
          </a:p>
        </p:txBody>
      </p:sp>
      <p:sp>
        <p:nvSpPr>
          <p:cNvPr id="19" name="Text 16"/>
          <p:cNvSpPr txBox="1"/>
          <p:nvPr/>
        </p:nvSpPr>
        <p:spPr>
          <a:xfrm>
            <a:off x="45085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Emitir y cargar</a:t>
            </a:r>
            <a:endParaRPr lang="es-PE" sz="1725" dirty="0"/>
          </a:p>
        </p:txBody>
      </p:sp>
      <p:sp>
        <p:nvSpPr>
          <p:cNvPr id="20" name="Text 17"/>
          <p:cNvSpPr txBox="1"/>
          <p:nvPr/>
        </p:nvSpPr>
        <p:spPr>
          <a:xfrm>
            <a:off x="4508500" y="3314700"/>
            <a:ext cx="3175000" cy="1257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Generar PDF tributario</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y revisar vista previa.</a:t>
            </a:r>
            <a:endParaRPr lang="es-PE" sz="1350" dirty="0"/>
          </a:p>
        </p:txBody>
      </p:sp>
      <p:sp>
        <p:nvSpPr>
          <p:cNvPr id="21" name="Shape 18"/>
          <p:cNvSpPr/>
          <p:nvPr/>
        </p:nvSpPr>
        <p:spPr>
          <a:xfrm>
            <a:off x="8178800" y="2400300"/>
            <a:ext cx="3556000" cy="2247900"/>
          </a:xfrm>
          <a:prstGeom prst="roundRect">
            <a:avLst>
              <a:gd name="adj" fmla="val 2441"/>
            </a:avLst>
          </a:prstGeom>
          <a:solidFill>
            <a:srgbClr val="F8F7FA"/>
          </a:solidFill>
          <a:ln w="9525">
            <a:solidFill>
              <a:srgbClr val="DDD7E5"/>
            </a:solidFill>
            <a:prstDash val="solid"/>
          </a:ln>
        </p:spPr>
      </p:sp>
      <p:sp>
        <p:nvSpPr>
          <p:cNvPr id="22" name="Text 19"/>
          <p:cNvSpPr txBox="1"/>
          <p:nvPr/>
        </p:nvSpPr>
        <p:spPr>
          <a:xfrm>
            <a:off x="8369300" y="2552700"/>
            <a:ext cx="3175000" cy="228600"/>
          </a:xfrm>
          <a:prstGeom prst="rect">
            <a:avLst/>
          </a:prstGeom>
          <a:noFill/>
          <a:ln/>
        </p:spPr>
        <p:txBody>
          <a:bodyPr wrap="none" lIns="0" tIns="0" rIns="0" bIns="0" rtlCol="0" anchor="t"/>
          <a:lstStyle/>
          <a:p>
            <a:pPr algn="l" indent="0" marL="0">
              <a:lnSpc>
                <a:spcPct val="122000"/>
              </a:lnSpc>
              <a:buNone/>
            </a:pPr>
            <a:r>
              <a:rPr lang="es-PE" altLang="en-US" sz="900" b="1" dirty="0">
                <a:solidFill>
                  <a:srgbClr val="625C6D"/>
                </a:solidFill>
                <a:latin typeface="Inter" pitchFamily="34" charset="0"/>
                <a:ea typeface="Inter" pitchFamily="34" charset="-122"/>
                <a:cs typeface="Inter" pitchFamily="34" charset="-120"/>
              </a:rPr>
              <a:t>03</a:t>
            </a:r>
            <a:endParaRPr lang="es-PE" sz="900" dirty="0"/>
          </a:p>
        </p:txBody>
      </p:sp>
      <p:sp>
        <p:nvSpPr>
          <p:cNvPr id="23" name="Text 20"/>
          <p:cNvSpPr txBox="1"/>
          <p:nvPr/>
        </p:nvSpPr>
        <p:spPr>
          <a:xfrm>
            <a:off x="8369300" y="2857500"/>
            <a:ext cx="3175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Finalizar</a:t>
            </a:r>
            <a:endParaRPr lang="es-PE" sz="1725" dirty="0"/>
          </a:p>
        </p:txBody>
      </p:sp>
      <p:sp>
        <p:nvSpPr>
          <p:cNvPr id="24" name="Text 21"/>
          <p:cNvSpPr txBox="1"/>
          <p:nvPr/>
        </p:nvSpPr>
        <p:spPr>
          <a:xfrm>
            <a:off x="8369300" y="3314700"/>
            <a:ext cx="3175000" cy="1257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Confirmar documento</a:t>
            </a:r>
            <a:endParaRPr lang="es-PE" sz="1350" dirty="0"/>
          </a:p>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o atender corrección.</a:t>
            </a:r>
            <a:endParaRPr lang="es-PE" sz="1350" dirty="0"/>
          </a:p>
        </p:txBody>
      </p:sp>
      <p:sp>
        <p:nvSpPr>
          <p:cNvPr id="25" name="Shape 22"/>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6" name="Text 23"/>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Si los datos son incorrectos, registrar una observación para Fondo Editorial.</a:t>
            </a:r>
            <a:endParaRPr lang="es-PE"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13 · DOS RECORRIDOS PARALELOS</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La entrega del libro y la emisión no se bloquean entre sí</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Cada pago verificado genera la solicitud de su unidad, sin esperar a la otra.</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01 · Arquitectura / 04 · Estados y reglas</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20 / 24</a:t>
            </a:r>
            <a:endParaRPr lang="es-PE" sz="1050" dirty="0"/>
          </a:p>
        </p:txBody>
      </p:sp>
      <p:sp>
        <p:nvSpPr>
          <p:cNvPr id="11" name="Text 8"/>
          <p:cNvSpPr txBox="1"/>
          <p:nvPr/>
        </p:nvSpPr>
        <p:spPr>
          <a:xfrm>
            <a:off x="457200" y="2057400"/>
            <a:ext cx="2095500" cy="342900"/>
          </a:xfrm>
          <a:prstGeom prst="rect">
            <a:avLst/>
          </a:prstGeom>
          <a:noFill/>
          <a:ln/>
        </p:spPr>
        <p:txBody>
          <a:bodyPr wrap="none" lIns="0" tIns="0" rIns="0" bIns="0" rtlCol="0" anchor="t"/>
          <a:lstStyle/>
          <a:p>
            <a:pPr algn="l" indent="0" marL="0">
              <a:lnSpc>
                <a:spcPct val="122000"/>
              </a:lnSpc>
              <a:buNone/>
            </a:pPr>
            <a:r>
              <a:rPr lang="es-PE" altLang="en-US" sz="1200" b="1" dirty="0">
                <a:solidFill>
                  <a:srgbClr val="6802C1"/>
                </a:solidFill>
                <a:latin typeface="Inter" pitchFamily="34" charset="0"/>
                <a:ea typeface="Inter" pitchFamily="34" charset="-122"/>
                <a:cs typeface="Inter" pitchFamily="34" charset="-120"/>
              </a:rPr>
              <a:t>LIBROS</a:t>
            </a:r>
            <a:endParaRPr lang="es-PE" sz="1200" dirty="0"/>
          </a:p>
        </p:txBody>
      </p:sp>
      <p:sp>
        <p:nvSpPr>
          <p:cNvPr id="12" name="Text 9"/>
          <p:cNvSpPr txBox="1"/>
          <p:nvPr/>
        </p:nvSpPr>
        <p:spPr>
          <a:xfrm>
            <a:off x="457200" y="3962400"/>
            <a:ext cx="2095500" cy="342900"/>
          </a:xfrm>
          <a:prstGeom prst="rect">
            <a:avLst/>
          </a:prstGeom>
          <a:noFill/>
          <a:ln/>
        </p:spPr>
        <p:txBody>
          <a:bodyPr wrap="none" lIns="0" tIns="0" rIns="0" bIns="0" rtlCol="0" anchor="t"/>
          <a:lstStyle/>
          <a:p>
            <a:pPr algn="l" indent="0" marL="0">
              <a:lnSpc>
                <a:spcPct val="122000"/>
              </a:lnSpc>
              <a:buNone/>
            </a:pPr>
            <a:r>
              <a:rPr lang="es-PE" altLang="en-US" sz="1200" b="1" dirty="0">
                <a:solidFill>
                  <a:srgbClr val="6802C1"/>
                </a:solidFill>
                <a:latin typeface="Inter" pitchFamily="34" charset="0"/>
                <a:ea typeface="Inter" pitchFamily="34" charset="-122"/>
                <a:cs typeface="Inter" pitchFamily="34" charset="-120"/>
              </a:rPr>
              <a:t>DOCUMENTOS</a:t>
            </a:r>
            <a:endParaRPr lang="es-PE" sz="1200" dirty="0"/>
          </a:p>
        </p:txBody>
      </p:sp>
      <p:sp>
        <p:nvSpPr>
          <p:cNvPr id="13" name="Shape 10"/>
          <p:cNvSpPr/>
          <p:nvPr/>
        </p:nvSpPr>
        <p:spPr>
          <a:xfrm>
            <a:off x="3695700" y="2952750"/>
            <a:ext cx="800100" cy="9525"/>
          </a:xfrm>
          <a:custGeom>
            <a:avLst/>
            <a:gdLst/>
            <a:ahLst/>
            <a:cxnLst/>
            <a:rect l="l" t="t" r="r" b="b"/>
            <a:pathLst>
              <a:path w="800100" h="9525">
                <a:moveTo>
                  <a:pt x="0" y="0"/>
                </a:moveTo>
                <a:lnTo>
                  <a:pt x="800100" y="0"/>
                </a:lnTo>
              </a:path>
            </a:pathLst>
          </a:custGeom>
          <a:noFill/>
          <a:ln w="19050">
            <a:solidFill>
              <a:srgbClr val="625C6D"/>
            </a:solidFill>
            <a:prstDash val="solid"/>
            <a:tailEnd type="triangle"/>
          </a:ln>
        </p:spPr>
      </p:sp>
      <p:sp>
        <p:nvSpPr>
          <p:cNvPr id="14" name="Shape 11"/>
          <p:cNvSpPr/>
          <p:nvPr/>
        </p:nvSpPr>
        <p:spPr>
          <a:xfrm>
            <a:off x="7505700" y="2952750"/>
            <a:ext cx="800100" cy="9525"/>
          </a:xfrm>
          <a:custGeom>
            <a:avLst/>
            <a:gdLst/>
            <a:ahLst/>
            <a:cxnLst/>
            <a:rect l="l" t="t" r="r" b="b"/>
            <a:pathLst>
              <a:path w="800100" h="9525">
                <a:moveTo>
                  <a:pt x="0" y="0"/>
                </a:moveTo>
                <a:lnTo>
                  <a:pt x="800100" y="0"/>
                </a:lnTo>
              </a:path>
            </a:pathLst>
          </a:custGeom>
          <a:noFill/>
          <a:ln w="19050">
            <a:solidFill>
              <a:srgbClr val="625C6D"/>
            </a:solidFill>
            <a:prstDash val="solid"/>
            <a:tailEnd type="triangle"/>
          </a:ln>
        </p:spPr>
      </p:sp>
      <p:sp>
        <p:nvSpPr>
          <p:cNvPr id="15" name="Shape 12"/>
          <p:cNvSpPr/>
          <p:nvPr/>
        </p:nvSpPr>
        <p:spPr>
          <a:xfrm>
            <a:off x="3695700" y="4857750"/>
            <a:ext cx="800100" cy="9525"/>
          </a:xfrm>
          <a:custGeom>
            <a:avLst/>
            <a:gdLst/>
            <a:ahLst/>
            <a:cxnLst/>
            <a:rect l="l" t="t" r="r" b="b"/>
            <a:pathLst>
              <a:path w="800100" h="9525">
                <a:moveTo>
                  <a:pt x="0" y="0"/>
                </a:moveTo>
                <a:lnTo>
                  <a:pt x="800100" y="0"/>
                </a:lnTo>
              </a:path>
            </a:pathLst>
          </a:custGeom>
          <a:noFill/>
          <a:ln w="19050">
            <a:solidFill>
              <a:srgbClr val="625C6D"/>
            </a:solidFill>
            <a:prstDash val="solid"/>
            <a:tailEnd type="triangle"/>
          </a:ln>
        </p:spPr>
      </p:sp>
      <p:sp>
        <p:nvSpPr>
          <p:cNvPr id="16" name="Shape 13"/>
          <p:cNvSpPr/>
          <p:nvPr/>
        </p:nvSpPr>
        <p:spPr>
          <a:xfrm>
            <a:off x="7505700" y="4857750"/>
            <a:ext cx="800100" cy="9525"/>
          </a:xfrm>
          <a:custGeom>
            <a:avLst/>
            <a:gdLst/>
            <a:ahLst/>
            <a:cxnLst/>
            <a:rect l="l" t="t" r="r" b="b"/>
            <a:pathLst>
              <a:path w="800100" h="9525">
                <a:moveTo>
                  <a:pt x="0" y="0"/>
                </a:moveTo>
                <a:lnTo>
                  <a:pt x="800100" y="0"/>
                </a:lnTo>
              </a:path>
            </a:pathLst>
          </a:custGeom>
          <a:noFill/>
          <a:ln w="19050">
            <a:solidFill>
              <a:srgbClr val="625C6D"/>
            </a:solidFill>
            <a:prstDash val="solid"/>
            <a:tailEnd type="triangle"/>
          </a:ln>
        </p:spPr>
      </p:sp>
      <p:sp>
        <p:nvSpPr>
          <p:cNvPr id="17" name="Shape 14"/>
          <p:cNvSpPr/>
          <p:nvPr/>
        </p:nvSpPr>
        <p:spPr>
          <a:xfrm>
            <a:off x="457200" y="2400300"/>
            <a:ext cx="3238500" cy="1104900"/>
          </a:xfrm>
          <a:prstGeom prst="roundRect">
            <a:avLst>
              <a:gd name="adj" fmla="val 4966"/>
            </a:avLst>
          </a:prstGeom>
          <a:solidFill>
            <a:srgbClr val="F3EAFC"/>
          </a:solidFill>
          <a:ln w="9525">
            <a:solidFill>
              <a:srgbClr val="6802C1"/>
            </a:solidFill>
            <a:prstDash val="solid"/>
          </a:ln>
        </p:spPr>
      </p:sp>
      <p:sp>
        <p:nvSpPr>
          <p:cNvPr id="18" name="Text 15"/>
          <p:cNvSpPr txBox="1"/>
          <p:nvPr/>
        </p:nvSpPr>
        <p:spPr>
          <a:xfrm>
            <a:off x="647700" y="2552700"/>
            <a:ext cx="28575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Pagos verificados</a:t>
            </a:r>
            <a:endParaRPr lang="es-PE" sz="1725" dirty="0"/>
          </a:p>
        </p:txBody>
      </p:sp>
      <p:sp>
        <p:nvSpPr>
          <p:cNvPr id="19" name="Text 16"/>
          <p:cNvSpPr txBox="1"/>
          <p:nvPr/>
        </p:nvSpPr>
        <p:spPr>
          <a:xfrm>
            <a:off x="647700" y="3009900"/>
            <a:ext cx="2857500" cy="419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Todos los requeridos</a:t>
            </a:r>
            <a:endParaRPr lang="es-PE" sz="1350" dirty="0"/>
          </a:p>
        </p:txBody>
      </p:sp>
      <p:sp>
        <p:nvSpPr>
          <p:cNvPr id="20" name="Shape 17"/>
          <p:cNvSpPr/>
          <p:nvPr/>
        </p:nvSpPr>
        <p:spPr>
          <a:xfrm>
            <a:off x="4495800" y="2400300"/>
            <a:ext cx="3009900" cy="1104900"/>
          </a:xfrm>
          <a:prstGeom prst="roundRect">
            <a:avLst>
              <a:gd name="adj" fmla="val 4966"/>
            </a:avLst>
          </a:prstGeom>
          <a:solidFill>
            <a:srgbClr val="F8F7FA"/>
          </a:solidFill>
          <a:ln w="9525">
            <a:solidFill>
              <a:srgbClr val="DDD7E5"/>
            </a:solidFill>
            <a:prstDash val="solid"/>
          </a:ln>
        </p:spPr>
      </p:sp>
      <p:sp>
        <p:nvSpPr>
          <p:cNvPr id="21" name="Text 18"/>
          <p:cNvSpPr txBox="1"/>
          <p:nvPr/>
        </p:nvSpPr>
        <p:spPr>
          <a:xfrm>
            <a:off x="4686300" y="2552700"/>
            <a:ext cx="26289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Distribución</a:t>
            </a:r>
            <a:endParaRPr lang="es-PE" sz="1725" dirty="0"/>
          </a:p>
        </p:txBody>
      </p:sp>
      <p:sp>
        <p:nvSpPr>
          <p:cNvPr id="22" name="Text 19"/>
          <p:cNvSpPr txBox="1"/>
          <p:nvPr/>
        </p:nvSpPr>
        <p:spPr>
          <a:xfrm>
            <a:off x="4686300" y="3009900"/>
            <a:ext cx="2628900" cy="419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Courier o listo para recojo</a:t>
            </a:r>
            <a:endParaRPr lang="es-PE" sz="1350" dirty="0"/>
          </a:p>
        </p:txBody>
      </p:sp>
      <p:sp>
        <p:nvSpPr>
          <p:cNvPr id="23" name="Shape 20"/>
          <p:cNvSpPr/>
          <p:nvPr/>
        </p:nvSpPr>
        <p:spPr>
          <a:xfrm>
            <a:off x="8305800" y="2400300"/>
            <a:ext cx="3429000" cy="1104900"/>
          </a:xfrm>
          <a:prstGeom prst="roundRect">
            <a:avLst>
              <a:gd name="adj" fmla="val 4966"/>
            </a:avLst>
          </a:prstGeom>
          <a:solidFill>
            <a:srgbClr val="F8F7FA"/>
          </a:solidFill>
          <a:ln w="9525">
            <a:solidFill>
              <a:srgbClr val="DDD7E5"/>
            </a:solidFill>
            <a:prstDash val="solid"/>
          </a:ln>
        </p:spPr>
      </p:sp>
      <p:sp>
        <p:nvSpPr>
          <p:cNvPr id="24" name="Text 21"/>
          <p:cNvSpPr txBox="1"/>
          <p:nvPr/>
        </p:nvSpPr>
        <p:spPr>
          <a:xfrm>
            <a:off x="8496300" y="2552700"/>
            <a:ext cx="3048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Entrega</a:t>
            </a:r>
            <a:endParaRPr lang="es-PE" sz="1725" dirty="0"/>
          </a:p>
        </p:txBody>
      </p:sp>
      <p:sp>
        <p:nvSpPr>
          <p:cNvPr id="25" name="Text 22"/>
          <p:cNvSpPr txBox="1"/>
          <p:nvPr/>
        </p:nvSpPr>
        <p:spPr>
          <a:xfrm>
            <a:off x="8496300" y="3009900"/>
            <a:ext cx="3048000" cy="419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Recepción confirmada</a:t>
            </a:r>
            <a:endParaRPr lang="es-PE" sz="1350" dirty="0"/>
          </a:p>
        </p:txBody>
      </p:sp>
      <p:sp>
        <p:nvSpPr>
          <p:cNvPr id="26" name="Shape 23"/>
          <p:cNvSpPr/>
          <p:nvPr/>
        </p:nvSpPr>
        <p:spPr>
          <a:xfrm>
            <a:off x="457200" y="4305300"/>
            <a:ext cx="3238500" cy="1104900"/>
          </a:xfrm>
          <a:prstGeom prst="roundRect">
            <a:avLst>
              <a:gd name="adj" fmla="val 4966"/>
            </a:avLst>
          </a:prstGeom>
          <a:solidFill>
            <a:srgbClr val="F3EAFC"/>
          </a:solidFill>
          <a:ln w="9525">
            <a:solidFill>
              <a:srgbClr val="6802C1"/>
            </a:solidFill>
            <a:prstDash val="solid"/>
          </a:ln>
        </p:spPr>
      </p:sp>
      <p:sp>
        <p:nvSpPr>
          <p:cNvPr id="27" name="Text 24"/>
          <p:cNvSpPr txBox="1"/>
          <p:nvPr/>
        </p:nvSpPr>
        <p:spPr>
          <a:xfrm>
            <a:off x="647700" y="4457700"/>
            <a:ext cx="28575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6802C1"/>
                </a:solidFill>
                <a:latin typeface="Inter" pitchFamily="34" charset="0"/>
                <a:ea typeface="Inter" pitchFamily="34" charset="-122"/>
                <a:cs typeface="Inter" pitchFamily="34" charset="-120"/>
              </a:rPr>
              <a:t>Pago de una unidad</a:t>
            </a:r>
            <a:endParaRPr lang="es-PE" sz="1725" dirty="0"/>
          </a:p>
        </p:txBody>
      </p:sp>
      <p:sp>
        <p:nvSpPr>
          <p:cNvPr id="28" name="Text 25"/>
          <p:cNvSpPr txBox="1"/>
          <p:nvPr/>
        </p:nvSpPr>
        <p:spPr>
          <a:xfrm>
            <a:off x="647700" y="4914900"/>
            <a:ext cx="2857500" cy="419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Abre su solicitud</a:t>
            </a:r>
            <a:endParaRPr lang="es-PE" sz="1350" dirty="0"/>
          </a:p>
        </p:txBody>
      </p:sp>
      <p:sp>
        <p:nvSpPr>
          <p:cNvPr id="29" name="Shape 26"/>
          <p:cNvSpPr/>
          <p:nvPr/>
        </p:nvSpPr>
        <p:spPr>
          <a:xfrm>
            <a:off x="4495800" y="4305300"/>
            <a:ext cx="3009900" cy="1104900"/>
          </a:xfrm>
          <a:prstGeom prst="roundRect">
            <a:avLst>
              <a:gd name="adj" fmla="val 4966"/>
            </a:avLst>
          </a:prstGeom>
          <a:solidFill>
            <a:srgbClr val="F8F7FA"/>
          </a:solidFill>
          <a:ln w="9525">
            <a:solidFill>
              <a:srgbClr val="DDD7E5"/>
            </a:solidFill>
            <a:prstDash val="solid"/>
          </a:ln>
        </p:spPr>
      </p:sp>
      <p:sp>
        <p:nvSpPr>
          <p:cNvPr id="30" name="Text 27"/>
          <p:cNvSpPr txBox="1"/>
          <p:nvPr/>
        </p:nvSpPr>
        <p:spPr>
          <a:xfrm>
            <a:off x="4686300" y="4457700"/>
            <a:ext cx="26289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Tesorería</a:t>
            </a:r>
            <a:endParaRPr lang="es-PE" sz="1725" dirty="0"/>
          </a:p>
        </p:txBody>
      </p:sp>
      <p:sp>
        <p:nvSpPr>
          <p:cNvPr id="31" name="Text 28"/>
          <p:cNvSpPr txBox="1"/>
          <p:nvPr/>
        </p:nvSpPr>
        <p:spPr>
          <a:xfrm>
            <a:off x="4686300" y="4914900"/>
            <a:ext cx="2628900" cy="419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Revisa, emite y finaliza</a:t>
            </a:r>
            <a:endParaRPr lang="es-PE" sz="1350" dirty="0"/>
          </a:p>
        </p:txBody>
      </p:sp>
      <p:sp>
        <p:nvSpPr>
          <p:cNvPr id="32" name="Shape 29"/>
          <p:cNvSpPr/>
          <p:nvPr/>
        </p:nvSpPr>
        <p:spPr>
          <a:xfrm>
            <a:off x="8305800" y="4305300"/>
            <a:ext cx="3429000" cy="1104900"/>
          </a:xfrm>
          <a:prstGeom prst="roundRect">
            <a:avLst>
              <a:gd name="adj" fmla="val 4966"/>
            </a:avLst>
          </a:prstGeom>
          <a:solidFill>
            <a:srgbClr val="F8F7FA"/>
          </a:solidFill>
          <a:ln w="9525">
            <a:solidFill>
              <a:srgbClr val="DDD7E5"/>
            </a:solidFill>
            <a:prstDash val="solid"/>
          </a:ln>
        </p:spPr>
      </p:sp>
      <p:sp>
        <p:nvSpPr>
          <p:cNvPr id="33" name="Text 30"/>
          <p:cNvSpPr txBox="1"/>
          <p:nvPr/>
        </p:nvSpPr>
        <p:spPr>
          <a:xfrm>
            <a:off x="8496300" y="4457700"/>
            <a:ext cx="3048000" cy="381000"/>
          </a:xfrm>
          <a:prstGeom prst="rect">
            <a:avLst/>
          </a:prstGeom>
          <a:noFill/>
          <a:ln/>
        </p:spPr>
        <p:txBody>
          <a:bodyPr wrap="none" lIns="0" tIns="0" rIns="0" bIns="0" rtlCol="0" anchor="t"/>
          <a:lstStyle/>
          <a:p>
            <a:pPr algn="l" indent="0" marL="0">
              <a:lnSpc>
                <a:spcPct val="122000"/>
              </a:lnSpc>
              <a:buNone/>
            </a:pPr>
            <a:r>
              <a:rPr lang="es-PE" altLang="en-US" sz="1725" b="1" dirty="0">
                <a:solidFill>
                  <a:srgbClr val="25202D"/>
                </a:solidFill>
                <a:latin typeface="Inter" pitchFamily="34" charset="0"/>
                <a:ea typeface="Inter" pitchFamily="34" charset="-122"/>
                <a:cs typeface="Inter" pitchFamily="34" charset="-120"/>
              </a:rPr>
              <a:t>PDF al comprador</a:t>
            </a:r>
            <a:endParaRPr lang="es-PE" sz="1725" dirty="0"/>
          </a:p>
        </p:txBody>
      </p:sp>
      <p:sp>
        <p:nvSpPr>
          <p:cNvPr id="34" name="Text 31"/>
          <p:cNvSpPr txBox="1"/>
          <p:nvPr/>
        </p:nvSpPr>
        <p:spPr>
          <a:xfrm>
            <a:off x="8496300" y="4914900"/>
            <a:ext cx="3048000" cy="4191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Mixto: ambos en un lote</a:t>
            </a:r>
            <a:endParaRPr lang="es-PE" sz="1350" dirty="0"/>
          </a:p>
        </p:txBody>
      </p:sp>
      <p:sp>
        <p:nvSpPr>
          <p:cNvPr id="35" name="Shape 32"/>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36" name="Text 33"/>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Avisos del evento nuevo e inmediatos; los fallidos quedan auditados, sin reenvío automático.</a:t>
            </a:r>
            <a:endParaRPr lang="es-PE"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14 · CONFIGURACIÓN Y RECOJO</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Configurar accesos y coordinar a las personas</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Los contactos de apoyo reciben instrucciones, sin convertirse en usuarios del sistema.</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04 · Maestro / Recojo y personal de apoyo</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21 / 24</a:t>
            </a:r>
            <a:endParaRPr lang="es-PE" sz="1050" dirty="0"/>
          </a:p>
        </p:txBody>
      </p:sp>
      <p:sp>
        <p:nvSpPr>
          <p:cNvPr id="11" name="Shape 8"/>
          <p:cNvSpPr/>
          <p:nvPr/>
        </p:nvSpPr>
        <p:spPr>
          <a:xfrm>
            <a:off x="457200" y="2133600"/>
            <a:ext cx="11277600" cy="838200"/>
          </a:xfrm>
          <a:prstGeom prst="roundRect">
            <a:avLst>
              <a:gd name="adj" fmla="val 6545"/>
            </a:avLst>
          </a:prstGeom>
          <a:solidFill>
            <a:srgbClr val="F8F7FA"/>
          </a:solidFill>
          <a:ln w="12700">
            <a:solidFill>
              <a:srgbClr val="333333">
                <a:alpha val="0"/>
              </a:srgbClr>
            </a:solidFill>
            <a:prstDash val="solid"/>
          </a:ln>
        </p:spPr>
      </p:sp>
      <p:sp>
        <p:nvSpPr>
          <p:cNvPr id="12" name="Text 9"/>
          <p:cNvSpPr txBox="1"/>
          <p:nvPr/>
        </p:nvSpPr>
        <p:spPr>
          <a:xfrm>
            <a:off x="647700" y="2286000"/>
            <a:ext cx="2514600" cy="6477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Accesos y seguridad</a:t>
            </a:r>
            <a:endParaRPr lang="es-PE" sz="1500" dirty="0"/>
          </a:p>
        </p:txBody>
      </p:sp>
      <p:sp>
        <p:nvSpPr>
          <p:cNvPr id="13" name="Text 10"/>
          <p:cNvSpPr txBox="1"/>
          <p:nvPr/>
        </p:nvSpPr>
        <p:spPr>
          <a:xfrm>
            <a:off x="3390900" y="2286000"/>
            <a:ext cx="8077200" cy="6477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Maestro: cuentas personales, roles/unidades, buzones y cuotas.</a:t>
            </a:r>
            <a:endParaRPr lang="es-PE" sz="1425" dirty="0"/>
          </a:p>
        </p:txBody>
      </p:sp>
      <p:sp>
        <p:nvSpPr>
          <p:cNvPr id="14" name="Shape 11"/>
          <p:cNvSpPr/>
          <p:nvPr/>
        </p:nvSpPr>
        <p:spPr>
          <a:xfrm>
            <a:off x="457200" y="3124200"/>
            <a:ext cx="11277600" cy="838200"/>
          </a:xfrm>
          <a:prstGeom prst="roundRect">
            <a:avLst>
              <a:gd name="adj" fmla="val 6545"/>
            </a:avLst>
          </a:prstGeom>
          <a:solidFill>
            <a:srgbClr val="F8F7FA"/>
          </a:solidFill>
          <a:ln w="12700">
            <a:solidFill>
              <a:srgbClr val="333333">
                <a:alpha val="0"/>
              </a:srgbClr>
            </a:solidFill>
            <a:prstDash val="solid"/>
          </a:ln>
        </p:spPr>
      </p:sp>
      <p:sp>
        <p:nvSpPr>
          <p:cNvPr id="15" name="Text 12"/>
          <p:cNvSpPr txBox="1"/>
          <p:nvPr/>
        </p:nvSpPr>
        <p:spPr>
          <a:xfrm>
            <a:off x="647700" y="3276600"/>
            <a:ext cx="2514600" cy="6477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Configuración operativa</a:t>
            </a:r>
            <a:endParaRPr lang="es-PE" sz="1500" dirty="0"/>
          </a:p>
        </p:txBody>
      </p:sp>
      <p:sp>
        <p:nvSpPr>
          <p:cNvPr id="16" name="Text 13"/>
          <p:cNvSpPr txBox="1"/>
          <p:nvPr/>
        </p:nvSpPr>
        <p:spPr>
          <a:xfrm>
            <a:off x="3390900" y="3276600"/>
            <a:ext cx="8077200" cy="6477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Mantener cuentas, guías, campus, horarios y contactos reales.</a:t>
            </a:r>
            <a:endParaRPr lang="es-PE" sz="1425" dirty="0"/>
          </a:p>
        </p:txBody>
      </p:sp>
      <p:sp>
        <p:nvSpPr>
          <p:cNvPr id="17" name="Shape 14"/>
          <p:cNvSpPr/>
          <p:nvPr/>
        </p:nvSpPr>
        <p:spPr>
          <a:xfrm>
            <a:off x="457200" y="4114800"/>
            <a:ext cx="11277600" cy="990600"/>
          </a:xfrm>
          <a:prstGeom prst="roundRect">
            <a:avLst>
              <a:gd name="adj" fmla="val 5538"/>
            </a:avLst>
          </a:prstGeom>
          <a:solidFill>
            <a:srgbClr val="F8F7FA"/>
          </a:solidFill>
          <a:ln w="12700">
            <a:solidFill>
              <a:srgbClr val="333333">
                <a:alpha val="0"/>
              </a:srgbClr>
            </a:solidFill>
            <a:prstDash val="solid"/>
          </a:ln>
        </p:spPr>
      </p:sp>
      <p:sp>
        <p:nvSpPr>
          <p:cNvPr id="18" name="Text 15"/>
          <p:cNvSpPr txBox="1"/>
          <p:nvPr/>
        </p:nvSpPr>
        <p:spPr>
          <a:xfrm>
            <a:off x="647700" y="4267200"/>
            <a:ext cx="2514600" cy="8001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Recojo coordinado</a:t>
            </a:r>
            <a:endParaRPr lang="es-PE" sz="1500" dirty="0"/>
          </a:p>
        </p:txBody>
      </p:sp>
      <p:sp>
        <p:nvSpPr>
          <p:cNvPr id="19" name="Text 16"/>
          <p:cNvSpPr txBox="1"/>
          <p:nvPr/>
        </p:nvSpPr>
        <p:spPr>
          <a:xfrm>
            <a:off x="3390900" y="4267200"/>
            <a:ext cx="8077200" cy="8001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Gestor elige apoyo → comprador conoce a quién consultar → gestor confirma.</a:t>
            </a:r>
            <a:endParaRPr lang="es-PE" sz="1425" dirty="0"/>
          </a:p>
        </p:txBody>
      </p:sp>
      <p:sp>
        <p:nvSpPr>
          <p:cNvPr id="20" name="Shape 17"/>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1" name="Text 18"/>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Un contacto de apoyo no recibe sesión, permisos Drive ni enlace privado del comprador.</a:t>
            </a:r>
            <a:endParaRPr lang="es-PE"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15 · INCIDENCIAS</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Conservar el estado y diagnosticar con evidencia segura</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Reportar pantalla, hora y acción al responsable funcional o técnico.</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03 · Incidentes / 04 · Dudas e incidencias</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22 / 24</a:t>
            </a:r>
            <a:endParaRPr lang="es-PE" sz="1050" dirty="0"/>
          </a:p>
        </p:txBody>
      </p:sp>
      <p:sp>
        <p:nvSpPr>
          <p:cNvPr id="11" name="Shape 8"/>
          <p:cNvSpPr/>
          <p:nvPr/>
        </p:nvSpPr>
        <p:spPr>
          <a:xfrm>
            <a:off x="457200" y="2133600"/>
            <a:ext cx="11277600" cy="762000"/>
          </a:xfrm>
          <a:prstGeom prst="roundRect">
            <a:avLst>
              <a:gd name="adj" fmla="val 7200"/>
            </a:avLst>
          </a:prstGeom>
          <a:solidFill>
            <a:srgbClr val="F8F7FA"/>
          </a:solidFill>
          <a:ln w="12700">
            <a:solidFill>
              <a:srgbClr val="333333">
                <a:alpha val="0"/>
              </a:srgbClr>
            </a:solidFill>
            <a:prstDash val="solid"/>
          </a:ln>
        </p:spPr>
      </p:sp>
      <p:sp>
        <p:nvSpPr>
          <p:cNvPr id="12" name="Text 9"/>
          <p:cNvSpPr txBox="1"/>
          <p:nvPr/>
        </p:nvSpPr>
        <p:spPr>
          <a:xfrm>
            <a:off x="647700" y="2286000"/>
            <a:ext cx="2514600" cy="5715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Falla el correo</a:t>
            </a:r>
            <a:endParaRPr lang="es-PE" sz="1500" dirty="0"/>
          </a:p>
        </p:txBody>
      </p:sp>
      <p:sp>
        <p:nvSpPr>
          <p:cNvPr id="13" name="Text 10"/>
          <p:cNvSpPr txBox="1"/>
          <p:nvPr/>
        </p:nvSpPr>
        <p:spPr>
          <a:xfrm>
            <a:off x="3390900" y="2286000"/>
            <a:ext cx="8077200" cy="5715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El pedido puede existir: conservar enlace y revisar auditoría.</a:t>
            </a:r>
            <a:endParaRPr lang="es-PE" sz="1425" dirty="0"/>
          </a:p>
        </p:txBody>
      </p:sp>
      <p:sp>
        <p:nvSpPr>
          <p:cNvPr id="14" name="Shape 11"/>
          <p:cNvSpPr/>
          <p:nvPr/>
        </p:nvSpPr>
        <p:spPr>
          <a:xfrm>
            <a:off x="457200" y="3048000"/>
            <a:ext cx="11277600" cy="762000"/>
          </a:xfrm>
          <a:prstGeom prst="roundRect">
            <a:avLst>
              <a:gd name="adj" fmla="val 7200"/>
            </a:avLst>
          </a:prstGeom>
          <a:solidFill>
            <a:srgbClr val="F8F7FA"/>
          </a:solidFill>
          <a:ln w="12700">
            <a:solidFill>
              <a:srgbClr val="333333">
                <a:alpha val="0"/>
              </a:srgbClr>
            </a:solidFill>
            <a:prstDash val="solid"/>
          </a:ln>
        </p:spPr>
      </p:sp>
      <p:sp>
        <p:nvSpPr>
          <p:cNvPr id="15" name="Text 12"/>
          <p:cNvSpPr txBox="1"/>
          <p:nvPr/>
        </p:nvSpPr>
        <p:spPr>
          <a:xfrm>
            <a:off x="647700" y="3200400"/>
            <a:ext cx="2514600" cy="5715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Falla una carga</a:t>
            </a:r>
            <a:endParaRPr lang="es-PE" sz="1500" dirty="0"/>
          </a:p>
        </p:txBody>
      </p:sp>
      <p:sp>
        <p:nvSpPr>
          <p:cNvPr id="16" name="Text 13"/>
          <p:cNvSpPr txBox="1"/>
          <p:nvPr/>
        </p:nvSpPr>
        <p:spPr>
          <a:xfrm>
            <a:off x="3390900" y="3200400"/>
            <a:ext cx="8077200" cy="5715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Conservar selección e intento; reintentar la carga sin duplicar.</a:t>
            </a:r>
            <a:endParaRPr lang="es-PE" sz="1425" dirty="0"/>
          </a:p>
        </p:txBody>
      </p:sp>
      <p:sp>
        <p:nvSpPr>
          <p:cNvPr id="17" name="Shape 14"/>
          <p:cNvSpPr/>
          <p:nvPr/>
        </p:nvSpPr>
        <p:spPr>
          <a:xfrm>
            <a:off x="457200" y="3962400"/>
            <a:ext cx="11277600" cy="762000"/>
          </a:xfrm>
          <a:prstGeom prst="roundRect">
            <a:avLst>
              <a:gd name="adj" fmla="val 7200"/>
            </a:avLst>
          </a:prstGeom>
          <a:solidFill>
            <a:srgbClr val="F8F7FA"/>
          </a:solidFill>
          <a:ln w="12700">
            <a:solidFill>
              <a:srgbClr val="333333">
                <a:alpha val="0"/>
              </a:srgbClr>
            </a:solidFill>
            <a:prstDash val="solid"/>
          </a:ln>
        </p:spPr>
      </p:sp>
      <p:sp>
        <p:nvSpPr>
          <p:cNvPr id="18" name="Text 15"/>
          <p:cNvSpPr txBox="1"/>
          <p:nvPr/>
        </p:nvSpPr>
        <p:spPr>
          <a:xfrm>
            <a:off x="647700" y="4114800"/>
            <a:ext cx="2514600" cy="5715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Falla BD o acceso</a:t>
            </a:r>
            <a:endParaRPr lang="es-PE" sz="1500" dirty="0"/>
          </a:p>
        </p:txBody>
      </p:sp>
      <p:sp>
        <p:nvSpPr>
          <p:cNvPr id="19" name="Text 16"/>
          <p:cNvSpPr txBox="1"/>
          <p:nvPr/>
        </p:nvSpPr>
        <p:spPr>
          <a:xfrm>
            <a:off x="3390900" y="4114800"/>
            <a:ext cx="8077200" cy="5715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Revisar el error seguro; evitar repetir acciones de resultado incierto.</a:t>
            </a:r>
            <a:endParaRPr lang="es-PE" sz="1425" dirty="0"/>
          </a:p>
        </p:txBody>
      </p:sp>
      <p:sp>
        <p:nvSpPr>
          <p:cNvPr id="20" name="Shape 17"/>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1" name="Text 18"/>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No crear pedidos adicionales, repetir depósitos ni borrar información para diagnosticar.</a:t>
            </a:r>
            <a:endParaRPr lang="es-PE"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16 · CIERRE INSTITUCIONAL</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La documentación orienta; la evidencia permite aceptar</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Pendientes consignados en los documentos: confirmar su estado antes de la presentación.</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00 · Qué falta / 02 · Evidencias / 03 · Cierre</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23 / 24</a:t>
            </a:r>
            <a:endParaRPr lang="es-PE" sz="1050" dirty="0"/>
          </a:p>
        </p:txBody>
      </p:sp>
      <p:sp>
        <p:nvSpPr>
          <p:cNvPr id="11" name="Shape 8"/>
          <p:cNvSpPr/>
          <p:nvPr/>
        </p:nvSpPr>
        <p:spPr>
          <a:xfrm>
            <a:off x="457200" y="2133600"/>
            <a:ext cx="11277600" cy="762000"/>
          </a:xfrm>
          <a:prstGeom prst="roundRect">
            <a:avLst>
              <a:gd name="adj" fmla="val 7200"/>
            </a:avLst>
          </a:prstGeom>
          <a:solidFill>
            <a:srgbClr val="F8F7FA"/>
          </a:solidFill>
          <a:ln w="12700">
            <a:solidFill>
              <a:srgbClr val="333333">
                <a:alpha val="0"/>
              </a:srgbClr>
            </a:solidFill>
            <a:prstDash val="solid"/>
          </a:ln>
        </p:spPr>
      </p:sp>
      <p:sp>
        <p:nvSpPr>
          <p:cNvPr id="12" name="Text 9"/>
          <p:cNvSpPr txBox="1"/>
          <p:nvPr/>
        </p:nvSpPr>
        <p:spPr>
          <a:xfrm>
            <a:off x="647700" y="2286000"/>
            <a:ext cx="2514600" cy="5715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Funcional + técnico</a:t>
            </a:r>
            <a:endParaRPr lang="es-PE" sz="1500" dirty="0"/>
          </a:p>
        </p:txBody>
      </p:sp>
      <p:sp>
        <p:nvSpPr>
          <p:cNvPr id="13" name="Text 10"/>
          <p:cNvSpPr txBox="1"/>
          <p:nvPr/>
        </p:nvSpPr>
        <p:spPr>
          <a:xfrm>
            <a:off x="3390900" y="2286000"/>
            <a:ext cx="8077200" cy="5715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Validar permisos, flujo, concurrencia y comportamiento de integraciones.</a:t>
            </a:r>
            <a:endParaRPr lang="es-PE" sz="1425" dirty="0"/>
          </a:p>
        </p:txBody>
      </p:sp>
      <p:sp>
        <p:nvSpPr>
          <p:cNvPr id="14" name="Shape 11"/>
          <p:cNvSpPr/>
          <p:nvPr/>
        </p:nvSpPr>
        <p:spPr>
          <a:xfrm>
            <a:off x="457200" y="3048000"/>
            <a:ext cx="11277600" cy="762000"/>
          </a:xfrm>
          <a:prstGeom prst="roundRect">
            <a:avLst>
              <a:gd name="adj" fmla="val 7200"/>
            </a:avLst>
          </a:prstGeom>
          <a:solidFill>
            <a:srgbClr val="F8F7FA"/>
          </a:solidFill>
          <a:ln w="12700">
            <a:solidFill>
              <a:srgbClr val="333333">
                <a:alpha val="0"/>
              </a:srgbClr>
            </a:solidFill>
            <a:prstDash val="solid"/>
          </a:ln>
        </p:spPr>
      </p:sp>
      <p:sp>
        <p:nvSpPr>
          <p:cNvPr id="15" name="Text 12"/>
          <p:cNvSpPr txBox="1"/>
          <p:nvPr/>
        </p:nvSpPr>
        <p:spPr>
          <a:xfrm>
            <a:off x="647700" y="3200400"/>
            <a:ext cx="2514600" cy="5715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TI / Seguridad</a:t>
            </a:r>
            <a:endParaRPr lang="es-PE" sz="1500" dirty="0"/>
          </a:p>
        </p:txBody>
      </p:sp>
      <p:sp>
        <p:nvSpPr>
          <p:cNvPr id="16" name="Text 13"/>
          <p:cNvSpPr txBox="1"/>
          <p:nvPr/>
        </p:nvSpPr>
        <p:spPr>
          <a:xfrm>
            <a:off x="3390900" y="3200400"/>
            <a:ext cx="8077200" cy="5715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Acreditar MFA, privilegios SQL/IAM, Drive, cifrado y firewall.</a:t>
            </a:r>
            <a:endParaRPr lang="es-PE" sz="1425" dirty="0"/>
          </a:p>
        </p:txBody>
      </p:sp>
      <p:sp>
        <p:nvSpPr>
          <p:cNvPr id="17" name="Shape 14"/>
          <p:cNvSpPr/>
          <p:nvPr/>
        </p:nvSpPr>
        <p:spPr>
          <a:xfrm>
            <a:off x="457200" y="3962400"/>
            <a:ext cx="11277600" cy="762000"/>
          </a:xfrm>
          <a:prstGeom prst="roundRect">
            <a:avLst>
              <a:gd name="adj" fmla="val 7200"/>
            </a:avLst>
          </a:prstGeom>
          <a:solidFill>
            <a:srgbClr val="F8F7FA"/>
          </a:solidFill>
          <a:ln w="12700">
            <a:solidFill>
              <a:srgbClr val="333333">
                <a:alpha val="0"/>
              </a:srgbClr>
            </a:solidFill>
            <a:prstDash val="solid"/>
          </a:ln>
        </p:spPr>
      </p:sp>
      <p:sp>
        <p:nvSpPr>
          <p:cNvPr id="18" name="Text 15"/>
          <p:cNvSpPr txBox="1"/>
          <p:nvPr/>
        </p:nvSpPr>
        <p:spPr>
          <a:xfrm>
            <a:off x="647700" y="4114800"/>
            <a:ext cx="2514600" cy="571500"/>
          </a:xfrm>
          <a:prstGeom prst="rect">
            <a:avLst/>
          </a:prstGeom>
          <a:noFill/>
          <a:ln/>
        </p:spPr>
        <p:txBody>
          <a:bodyPr wrap="none" lIns="0" tIns="0" rIns="0" bIns="0" rtlCol="0" anchor="t"/>
          <a:lstStyle/>
          <a:p>
            <a:pPr algn="l" indent="0" marL="0">
              <a:lnSpc>
                <a:spcPct val="122000"/>
              </a:lnSpc>
              <a:buNone/>
            </a:pPr>
            <a:r>
              <a:rPr lang="es-PE" altLang="en-US" sz="1500" b="1" dirty="0">
                <a:solidFill>
                  <a:srgbClr val="6802C1"/>
                </a:solidFill>
                <a:latin typeface="Inter" pitchFamily="34" charset="0"/>
                <a:ea typeface="Inter" pitchFamily="34" charset="-122"/>
                <a:cs typeface="Inter" pitchFamily="34" charset="-120"/>
              </a:rPr>
              <a:t>Custodia + aceptación</a:t>
            </a:r>
            <a:endParaRPr lang="es-PE" sz="1500" dirty="0"/>
          </a:p>
        </p:txBody>
      </p:sp>
      <p:sp>
        <p:nvSpPr>
          <p:cNvPr id="19" name="Text 16"/>
          <p:cNvSpPr txBox="1"/>
          <p:nvPr/>
        </p:nvSpPr>
        <p:spPr>
          <a:xfrm>
            <a:off x="3390900" y="4114800"/>
            <a:ext cx="8077200" cy="571500"/>
          </a:xfrm>
          <a:prstGeom prst="rect">
            <a:avLst/>
          </a:prstGeom>
          <a:noFill/>
          <a:ln/>
        </p:spPr>
        <p:txBody>
          <a:bodyPr wrap="none" lIns="0" tIns="0" rIns="0" bIns="0" rtlCol="0" anchor="t"/>
          <a:lstStyle/>
          <a:p>
            <a:pPr algn="l" indent="0" marL="0">
              <a:lnSpc>
                <a:spcPct val="122000"/>
              </a:lnSpc>
              <a:buNone/>
            </a:pPr>
            <a:r>
              <a:rPr lang="es-PE" altLang="en-US" sz="1425" dirty="0">
                <a:solidFill>
                  <a:srgbClr val="25202D"/>
                </a:solidFill>
                <a:latin typeface="Inter" pitchFamily="34" charset="0"/>
                <a:ea typeface="Inter" pitchFamily="34" charset="-122"/>
                <a:cs typeface="Inter" pitchFamily="34" charset="-120"/>
              </a:rPr>
              <a:t>Medir restauración y aprobar consentimiento, conservación y auditoría.</a:t>
            </a:r>
            <a:endParaRPr lang="es-PE" sz="1425" dirty="0"/>
          </a:p>
        </p:txBody>
      </p:sp>
      <p:sp>
        <p:nvSpPr>
          <p:cNvPr id="20" name="Shape 17"/>
          <p:cNvSpPr/>
          <p:nvPr/>
        </p:nvSpPr>
        <p:spPr>
          <a:xfrm>
            <a:off x="457200" y="5638800"/>
            <a:ext cx="11277600" cy="457200"/>
          </a:xfrm>
          <a:prstGeom prst="roundRect">
            <a:avLst>
              <a:gd name="adj" fmla="val 12000"/>
            </a:avLst>
          </a:prstGeom>
          <a:solidFill>
            <a:srgbClr val="F3EAFC"/>
          </a:solidFill>
          <a:ln w="12700">
            <a:solidFill>
              <a:srgbClr val="333333">
                <a:alpha val="0"/>
              </a:srgbClr>
            </a:solidFill>
            <a:prstDash val="solid"/>
          </a:ln>
        </p:spPr>
      </p:sp>
      <p:sp>
        <p:nvSpPr>
          <p:cNvPr id="21" name="Text 18"/>
          <p:cNvSpPr txBox="1"/>
          <p:nvPr/>
        </p:nvSpPr>
        <p:spPr>
          <a:xfrm>
            <a:off x="647700" y="5734050"/>
            <a:ext cx="108966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6802C1"/>
                </a:solidFill>
                <a:latin typeface="Inter" pitchFamily="34" charset="0"/>
                <a:ea typeface="Inter" pitchFamily="34" charset="-122"/>
                <a:cs typeface="Inter" pitchFamily="34" charset="-120"/>
              </a:rPr>
              <a:t>Registrar ambiente, versión, fecha, responsable y resultado; adjuntar evidencia sin secretos.</a:t>
            </a:r>
            <a:endParaRPr lang="es-PE"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FFFFF"/>
          </a:solidFill>
          <a:ln w="12700">
            <a:solidFill>
              <a:srgbClr val="333333">
                <a:alpha val="0"/>
              </a:srgbClr>
            </a:solidFill>
            <a:prstDash val="solid"/>
          </a:ln>
        </p:spPr>
      </p:sp>
      <p:sp>
        <p:nvSpPr>
          <p:cNvPr id="4" name="Shape 1"/>
          <p:cNvSpPr/>
          <p:nvPr/>
        </p:nvSpPr>
        <p:spPr>
          <a:xfrm>
            <a:off x="457200" y="381000"/>
            <a:ext cx="304800" cy="38100"/>
          </a:xfrm>
          <a:prstGeom prst="rect">
            <a:avLst/>
          </a:prstGeom>
          <a:solidFill>
            <a:srgbClr val="6802C1"/>
          </a:solidFill>
          <a:ln w="12700">
            <a:solidFill>
              <a:srgbClr val="333333">
                <a:alpha val="0"/>
              </a:srgbClr>
            </a:solidFill>
            <a:prstDash val="solid"/>
          </a:ln>
        </p:spPr>
      </p:sp>
      <p:sp>
        <p:nvSpPr>
          <p:cNvPr id="5" name="Text 2"/>
          <p:cNvSpPr txBox="1"/>
          <p:nvPr/>
        </p:nvSpPr>
        <p:spPr>
          <a:xfrm>
            <a:off x="876300" y="285750"/>
            <a:ext cx="10668000" cy="228600"/>
          </a:xfrm>
          <a:prstGeom prst="rect">
            <a:avLst/>
          </a:prstGeom>
          <a:noFill/>
          <a:ln/>
        </p:spPr>
        <p:txBody>
          <a:bodyPr wrap="none" lIns="0" tIns="0" rIns="0" bIns="0" rtlCol="0" anchor="t"/>
          <a:lstStyle/>
          <a:p>
            <a:pPr algn="l" indent="0" marL="0">
              <a:lnSpc>
                <a:spcPct val="122000"/>
              </a:lnSpc>
              <a:buNone/>
            </a:pPr>
            <a:r>
              <a:rPr lang="es-PE" altLang="en-US" sz="975" b="1" dirty="0">
                <a:solidFill>
                  <a:srgbClr val="6802C1"/>
                </a:solidFill>
                <a:latin typeface="Inter" pitchFamily="34" charset="0"/>
                <a:ea typeface="Inter" pitchFamily="34" charset="-122"/>
                <a:cs typeface="Inter" pitchFamily="34" charset="-120"/>
              </a:rPr>
              <a:t>17 · CIERRE</a:t>
            </a:r>
            <a:endParaRPr lang="es-PE" sz="975" dirty="0"/>
          </a:p>
        </p:txBody>
      </p:sp>
      <p:sp>
        <p:nvSpPr>
          <p:cNvPr id="6" name="Text 3"/>
          <p:cNvSpPr txBox="1"/>
          <p:nvPr/>
        </p:nvSpPr>
        <p:spPr>
          <a:xfrm>
            <a:off x="457200" y="723900"/>
            <a:ext cx="11277600" cy="609600"/>
          </a:xfrm>
          <a:prstGeom prst="rect">
            <a:avLst/>
          </a:prstGeom>
          <a:noFill/>
          <a:ln/>
        </p:spPr>
        <p:txBody>
          <a:bodyPr wrap="none" lIns="0" tIns="0" rIns="0" bIns="0" rtlCol="0" anchor="t"/>
          <a:lstStyle/>
          <a:p>
            <a:pPr algn="l" indent="0" marL="0">
              <a:lnSpc>
                <a:spcPct val="122000"/>
              </a:lnSpc>
              <a:buNone/>
            </a:pPr>
            <a:r>
              <a:rPr lang="es-PE" altLang="en-US" sz="2550" b="1" dirty="0">
                <a:solidFill>
                  <a:srgbClr val="25202D"/>
                </a:solidFill>
                <a:latin typeface="Inter" pitchFamily="34" charset="0"/>
                <a:ea typeface="Inter" pitchFamily="34" charset="-122"/>
                <a:cs typeface="Inter" pitchFamily="34" charset="-120"/>
              </a:rPr>
              <a:t>Tres ideas para recordar</a:t>
            </a:r>
            <a:endParaRPr lang="es-PE" sz="2550" dirty="0"/>
          </a:p>
        </p:txBody>
      </p:sp>
      <p:sp>
        <p:nvSpPr>
          <p:cNvPr id="7" name="Text 4"/>
          <p:cNvSpPr txBox="1"/>
          <p:nvPr/>
        </p:nvSpPr>
        <p:spPr>
          <a:xfrm>
            <a:off x="457200" y="1409700"/>
            <a:ext cx="11277600" cy="4953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Una operación coordinada, una seguridad verificable y una recuperación que debe ensayarse.</a:t>
            </a:r>
            <a:endParaRPr lang="es-PE" sz="1350" dirty="0"/>
          </a:p>
        </p:txBody>
      </p:sp>
      <p:sp>
        <p:nvSpPr>
          <p:cNvPr id="8" name="Shape 5"/>
          <p:cNvSpPr/>
          <p:nvPr/>
        </p:nvSpPr>
        <p:spPr>
          <a:xfrm>
            <a:off x="457200" y="6324600"/>
            <a:ext cx="11277600" cy="9525"/>
          </a:xfrm>
          <a:custGeom>
            <a:avLst/>
            <a:gdLst/>
            <a:ahLst/>
            <a:cxnLst/>
            <a:rect l="l" t="t" r="r" b="b"/>
            <a:pathLst>
              <a:path w="11277600" h="9525">
                <a:moveTo>
                  <a:pt x="0" y="0"/>
                </a:moveTo>
                <a:lnTo>
                  <a:pt x="11277600" y="0"/>
                </a:lnTo>
              </a:path>
            </a:pathLst>
          </a:custGeom>
          <a:noFill/>
          <a:ln w="19050">
            <a:solidFill>
              <a:srgbClr val="DDD7E5"/>
            </a:solidFill>
            <a:prstDash val="solid"/>
          </a:ln>
        </p:spPr>
      </p:sp>
      <p:sp>
        <p:nvSpPr>
          <p:cNvPr id="9" name="Text 6"/>
          <p:cNvSpPr txBox="1"/>
          <p:nvPr/>
        </p:nvSpPr>
        <p:spPr>
          <a:xfrm>
            <a:off x="457200" y="6477000"/>
            <a:ext cx="9715500" cy="190500"/>
          </a:xfrm>
          <a:prstGeom prst="rect">
            <a:avLst/>
          </a:prstGeom>
          <a:noFill/>
          <a:ln/>
        </p:spPr>
        <p:txBody>
          <a:bodyPr wrap="none" lIns="0" tIns="0" rIns="0" bIns="0" rtlCol="0" anchor="t"/>
          <a:lstStyle/>
          <a:p>
            <a:pPr algn="l" indent="0" marL="0">
              <a:lnSpc>
                <a:spcPct val="122000"/>
              </a:lnSpc>
              <a:buNone/>
            </a:pPr>
            <a:r>
              <a:rPr lang="es-PE" altLang="en-US" sz="825" dirty="0">
                <a:solidFill>
                  <a:srgbClr val="625C6D"/>
                </a:solidFill>
                <a:latin typeface="Inter" pitchFamily="34" charset="0"/>
                <a:ea typeface="Inter" pitchFamily="34" charset="-122"/>
                <a:cs typeface="Inter" pitchFamily="34" charset="-120"/>
              </a:rPr>
              <a:t>FONDO EDITORIAL CONTINENTAL  ·  00 · Responsables / 01–04 · Síntesis</a:t>
            </a:r>
            <a:endParaRPr lang="es-PE" sz="825" dirty="0"/>
          </a:p>
        </p:txBody>
      </p:sp>
      <p:sp>
        <p:nvSpPr>
          <p:cNvPr id="10" name="Text 7"/>
          <p:cNvSpPr txBox="1"/>
          <p:nvPr/>
        </p:nvSpPr>
        <p:spPr>
          <a:xfrm>
            <a:off x="10858500" y="6438900"/>
            <a:ext cx="876300" cy="266700"/>
          </a:xfrm>
          <a:prstGeom prst="rect">
            <a:avLst/>
          </a:prstGeom>
          <a:noFill/>
          <a:ln/>
        </p:spPr>
        <p:txBody>
          <a:bodyPr wrap="none" lIns="0" tIns="0" rIns="0" bIns="0" rtlCol="0" anchor="t"/>
          <a:lstStyle/>
          <a:p>
            <a:pPr algn="r" indent="0" marL="0">
              <a:lnSpc>
                <a:spcPct val="122000"/>
              </a:lnSpc>
              <a:buNone/>
            </a:pPr>
            <a:r>
              <a:rPr lang="es-PE" altLang="en-US" sz="1050" b="1" dirty="0">
                <a:solidFill>
                  <a:srgbClr val="6802C1"/>
                </a:solidFill>
                <a:latin typeface="Inter" pitchFamily="34" charset="0"/>
                <a:ea typeface="Inter" pitchFamily="34" charset="-122"/>
                <a:cs typeface="Inter" pitchFamily="34" charset="-120"/>
              </a:rPr>
              <a:t>24 / 24</a:t>
            </a:r>
            <a:endParaRPr lang="es-PE" sz="1050" dirty="0"/>
          </a:p>
        </p:txBody>
      </p:sp>
      <p:sp>
        <p:nvSpPr>
          <p:cNvPr id="11" name="Text 8"/>
          <p:cNvSpPr txBox="1"/>
          <p:nvPr/>
        </p:nvSpPr>
        <p:spPr>
          <a:xfrm>
            <a:off x="457200" y="2171700"/>
            <a:ext cx="3086100" cy="381000"/>
          </a:xfrm>
          <a:prstGeom prst="rect">
            <a:avLst/>
          </a:prstGeom>
          <a:noFill/>
          <a:ln/>
        </p:spPr>
        <p:txBody>
          <a:bodyPr wrap="none" lIns="0" tIns="0" rIns="0" bIns="0" rtlCol="0" anchor="t"/>
          <a:lstStyle/>
          <a:p>
            <a:pPr algn="l" indent="0" marL="0">
              <a:lnSpc>
                <a:spcPct val="122000"/>
              </a:lnSpc>
              <a:buNone/>
            </a:pPr>
            <a:r>
              <a:rPr lang="es-PE" altLang="en-US" sz="1800" b="1" dirty="0">
                <a:solidFill>
                  <a:srgbClr val="6802C1"/>
                </a:solidFill>
                <a:latin typeface="Inter" pitchFamily="34" charset="0"/>
                <a:ea typeface="Inter" pitchFamily="34" charset="-122"/>
                <a:cs typeface="Inter" pitchFamily="34" charset="-120"/>
              </a:rPr>
              <a:t>01 · Responsabilidad</a:t>
            </a:r>
            <a:endParaRPr lang="es-PE" sz="1800" dirty="0"/>
          </a:p>
        </p:txBody>
      </p:sp>
      <p:sp>
        <p:nvSpPr>
          <p:cNvPr id="12" name="Text 9"/>
          <p:cNvSpPr txBox="1"/>
          <p:nvPr/>
        </p:nvSpPr>
        <p:spPr>
          <a:xfrm>
            <a:off x="3771900" y="2209800"/>
            <a:ext cx="7658100" cy="533400"/>
          </a:xfrm>
          <a:prstGeom prst="rect">
            <a:avLst/>
          </a:prstGeom>
          <a:noFill/>
          <a:ln/>
        </p:spPr>
        <p:txBody>
          <a:bodyPr wrap="none" lIns="0" tIns="0" rIns="0" bIns="0" rtlCol="0" anchor="t"/>
          <a:lstStyle/>
          <a:p>
            <a:pPr algn="l" indent="0" marL="0">
              <a:lnSpc>
                <a:spcPct val="122000"/>
              </a:lnSpc>
              <a:buNone/>
            </a:pPr>
            <a:r>
              <a:rPr lang="es-PE" altLang="en-US" sz="1725" dirty="0">
                <a:solidFill>
                  <a:srgbClr val="25202D"/>
                </a:solidFill>
                <a:latin typeface="Inter" pitchFamily="34" charset="0"/>
                <a:ea typeface="Inter" pitchFamily="34" charset="-122"/>
                <a:cs typeface="Inter" pitchFamily="34" charset="-120"/>
              </a:rPr>
              <a:t>Cada caso tiene un responsable personal.</a:t>
            </a:r>
            <a:endParaRPr lang="es-PE" sz="1725" dirty="0"/>
          </a:p>
        </p:txBody>
      </p:sp>
      <p:sp>
        <p:nvSpPr>
          <p:cNvPr id="13" name="Text 10"/>
          <p:cNvSpPr txBox="1"/>
          <p:nvPr/>
        </p:nvSpPr>
        <p:spPr>
          <a:xfrm>
            <a:off x="457200" y="3086100"/>
            <a:ext cx="3086100" cy="381000"/>
          </a:xfrm>
          <a:prstGeom prst="rect">
            <a:avLst/>
          </a:prstGeom>
          <a:noFill/>
          <a:ln/>
        </p:spPr>
        <p:txBody>
          <a:bodyPr wrap="none" lIns="0" tIns="0" rIns="0" bIns="0" rtlCol="0" anchor="t"/>
          <a:lstStyle/>
          <a:p>
            <a:pPr algn="l" indent="0" marL="0">
              <a:lnSpc>
                <a:spcPct val="122000"/>
              </a:lnSpc>
              <a:buNone/>
            </a:pPr>
            <a:r>
              <a:rPr lang="es-PE" altLang="en-US" sz="1800" b="1" dirty="0">
                <a:solidFill>
                  <a:srgbClr val="6802C1"/>
                </a:solidFill>
                <a:latin typeface="Inter" pitchFamily="34" charset="0"/>
                <a:ea typeface="Inter" pitchFamily="34" charset="-122"/>
                <a:cs typeface="Inter" pitchFamily="34" charset="-120"/>
              </a:rPr>
              <a:t>02 · Trazabilidad</a:t>
            </a:r>
            <a:endParaRPr lang="es-PE" sz="1800" dirty="0"/>
          </a:p>
        </p:txBody>
      </p:sp>
      <p:sp>
        <p:nvSpPr>
          <p:cNvPr id="14" name="Text 11"/>
          <p:cNvSpPr txBox="1"/>
          <p:nvPr/>
        </p:nvSpPr>
        <p:spPr>
          <a:xfrm>
            <a:off x="3771900" y="3124200"/>
            <a:ext cx="7658100" cy="533400"/>
          </a:xfrm>
          <a:prstGeom prst="rect">
            <a:avLst/>
          </a:prstGeom>
          <a:noFill/>
          <a:ln/>
        </p:spPr>
        <p:txBody>
          <a:bodyPr wrap="none" lIns="0" tIns="0" rIns="0" bIns="0" rtlCol="0" anchor="t"/>
          <a:lstStyle/>
          <a:p>
            <a:pPr algn="l" indent="0" marL="0">
              <a:lnSpc>
                <a:spcPct val="122000"/>
              </a:lnSpc>
              <a:buNone/>
            </a:pPr>
            <a:r>
              <a:rPr lang="es-PE" altLang="en-US" sz="1725" dirty="0">
                <a:solidFill>
                  <a:srgbClr val="25202D"/>
                </a:solidFill>
                <a:latin typeface="Inter" pitchFamily="34" charset="0"/>
                <a:ea typeface="Inter" pitchFamily="34" charset="-122"/>
                <a:cs typeface="Inter" pitchFamily="34" charset="-120"/>
              </a:rPr>
              <a:t>Los cambios dejan historial; TI completa las evidencias.</a:t>
            </a:r>
            <a:endParaRPr lang="es-PE" sz="1725" dirty="0"/>
          </a:p>
        </p:txBody>
      </p:sp>
      <p:sp>
        <p:nvSpPr>
          <p:cNvPr id="15" name="Text 12"/>
          <p:cNvSpPr txBox="1"/>
          <p:nvPr/>
        </p:nvSpPr>
        <p:spPr>
          <a:xfrm>
            <a:off x="457200" y="4000500"/>
            <a:ext cx="3086100" cy="381000"/>
          </a:xfrm>
          <a:prstGeom prst="rect">
            <a:avLst/>
          </a:prstGeom>
          <a:noFill/>
          <a:ln/>
        </p:spPr>
        <p:txBody>
          <a:bodyPr wrap="none" lIns="0" tIns="0" rIns="0" bIns="0" rtlCol="0" anchor="t"/>
          <a:lstStyle/>
          <a:p>
            <a:pPr algn="l" indent="0" marL="0">
              <a:lnSpc>
                <a:spcPct val="122000"/>
              </a:lnSpc>
              <a:buNone/>
            </a:pPr>
            <a:r>
              <a:rPr lang="es-PE" altLang="en-US" sz="1800" b="1" dirty="0">
                <a:solidFill>
                  <a:srgbClr val="6802C1"/>
                </a:solidFill>
                <a:latin typeface="Inter" pitchFamily="34" charset="0"/>
                <a:ea typeface="Inter" pitchFamily="34" charset="-122"/>
                <a:cs typeface="Inter" pitchFamily="34" charset="-120"/>
              </a:rPr>
              <a:t>03 · Continuidad</a:t>
            </a:r>
            <a:endParaRPr lang="es-PE" sz="1800" dirty="0"/>
          </a:p>
        </p:txBody>
      </p:sp>
      <p:sp>
        <p:nvSpPr>
          <p:cNvPr id="16" name="Text 13"/>
          <p:cNvSpPr txBox="1"/>
          <p:nvPr/>
        </p:nvSpPr>
        <p:spPr>
          <a:xfrm>
            <a:off x="3771900" y="4038600"/>
            <a:ext cx="7658100" cy="533400"/>
          </a:xfrm>
          <a:prstGeom prst="rect">
            <a:avLst/>
          </a:prstGeom>
          <a:noFill/>
          <a:ln/>
        </p:spPr>
        <p:txBody>
          <a:bodyPr wrap="none" lIns="0" tIns="0" rIns="0" bIns="0" rtlCol="0" anchor="t"/>
          <a:lstStyle/>
          <a:p>
            <a:pPr algn="l" indent="0" marL="0">
              <a:lnSpc>
                <a:spcPct val="122000"/>
              </a:lnSpc>
              <a:buNone/>
            </a:pPr>
            <a:r>
              <a:rPr lang="es-PE" altLang="en-US" sz="1725" dirty="0">
                <a:solidFill>
                  <a:srgbClr val="25202D"/>
                </a:solidFill>
                <a:latin typeface="Inter" pitchFamily="34" charset="0"/>
                <a:ea typeface="Inter" pitchFamily="34" charset="-122"/>
                <a:cs typeface="Inter" pitchFamily="34" charset="-120"/>
              </a:rPr>
              <a:t>Copia semanal y restauración medida para recuperar.</a:t>
            </a:r>
            <a:endParaRPr lang="es-PE" sz="1725" dirty="0"/>
          </a:p>
        </p:txBody>
      </p:sp>
      <p:sp>
        <p:nvSpPr>
          <p:cNvPr id="17" name="Shape 14"/>
          <p:cNvSpPr/>
          <p:nvPr/>
        </p:nvSpPr>
        <p:spPr>
          <a:xfrm>
            <a:off x="457200" y="5143500"/>
            <a:ext cx="11277600" cy="990600"/>
          </a:xfrm>
          <a:prstGeom prst="roundRect">
            <a:avLst>
              <a:gd name="adj" fmla="val 5538"/>
            </a:avLst>
          </a:prstGeom>
          <a:solidFill>
            <a:srgbClr val="F8F7FA"/>
          </a:solidFill>
          <a:ln w="12700">
            <a:solidFill>
              <a:srgbClr val="333333">
                <a:alpha val="0"/>
              </a:srgbClr>
            </a:solidFill>
            <a:prstDash val="solid"/>
          </a:ln>
        </p:spPr>
      </p:sp>
      <p:sp>
        <p:nvSpPr>
          <p:cNvPr id="18" name="Text 15"/>
          <p:cNvSpPr txBox="1"/>
          <p:nvPr/>
        </p:nvSpPr>
        <p:spPr>
          <a:xfrm>
            <a:off x="647700" y="5257800"/>
            <a:ext cx="53340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25202D"/>
                </a:solidFill>
                <a:latin typeface="Inter" pitchFamily="34" charset="0"/>
                <a:ea typeface="Inter" pitchFamily="34" charset="-122"/>
                <a:cs typeface="Inter" pitchFamily="34" charset="-120"/>
              </a:rPr>
              <a:t>Funcional · Jullisa del Pilar Falla Aguirre</a:t>
            </a:r>
            <a:endParaRPr lang="es-PE" sz="1350" dirty="0"/>
          </a:p>
        </p:txBody>
      </p:sp>
      <p:sp>
        <p:nvSpPr>
          <p:cNvPr id="19" name="Text 16"/>
          <p:cNvSpPr txBox="1"/>
          <p:nvPr/>
        </p:nvSpPr>
        <p:spPr>
          <a:xfrm>
            <a:off x="647700" y="5638800"/>
            <a:ext cx="5334000" cy="2667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jfalla@continental.edu.pe</a:t>
            </a:r>
            <a:endParaRPr lang="es-PE" sz="1350" dirty="0"/>
          </a:p>
        </p:txBody>
      </p:sp>
      <p:sp>
        <p:nvSpPr>
          <p:cNvPr id="20" name="Text 17"/>
          <p:cNvSpPr txBox="1"/>
          <p:nvPr/>
        </p:nvSpPr>
        <p:spPr>
          <a:xfrm>
            <a:off x="6248400" y="5257800"/>
            <a:ext cx="5257800" cy="304800"/>
          </a:xfrm>
          <a:prstGeom prst="rect">
            <a:avLst/>
          </a:prstGeom>
          <a:noFill/>
          <a:ln/>
        </p:spPr>
        <p:txBody>
          <a:bodyPr wrap="none" lIns="0" tIns="0" rIns="0" bIns="0" rtlCol="0" anchor="t"/>
          <a:lstStyle/>
          <a:p>
            <a:pPr algn="l" indent="0" marL="0">
              <a:lnSpc>
                <a:spcPct val="122000"/>
              </a:lnSpc>
              <a:buNone/>
            </a:pPr>
            <a:r>
              <a:rPr lang="es-PE" altLang="en-US" sz="1350" b="1" dirty="0">
                <a:solidFill>
                  <a:srgbClr val="25202D"/>
                </a:solidFill>
                <a:latin typeface="Inter" pitchFamily="34" charset="0"/>
                <a:ea typeface="Inter" pitchFamily="34" charset="-122"/>
                <a:cs typeface="Inter" pitchFamily="34" charset="-120"/>
              </a:rPr>
              <a:t>Técnico · Fredy Paolo Romero Espinoza</a:t>
            </a:r>
            <a:endParaRPr lang="es-PE" sz="1350" dirty="0"/>
          </a:p>
        </p:txBody>
      </p:sp>
      <p:sp>
        <p:nvSpPr>
          <p:cNvPr id="21" name="Text 18"/>
          <p:cNvSpPr txBox="1"/>
          <p:nvPr/>
        </p:nvSpPr>
        <p:spPr>
          <a:xfrm>
            <a:off x="6248400" y="5638800"/>
            <a:ext cx="5257800" cy="266700"/>
          </a:xfrm>
          <a:prstGeom prst="rect">
            <a:avLst/>
          </a:prstGeom>
          <a:noFill/>
          <a:ln/>
        </p:spPr>
        <p:txBody>
          <a:bodyPr wrap="none" lIns="0" tIns="0" rIns="0" bIns="0" rtlCol="0" anchor="t"/>
          <a:lstStyle/>
          <a:p>
            <a:pPr algn="l" indent="0" marL="0">
              <a:lnSpc>
                <a:spcPct val="122000"/>
              </a:lnSpc>
              <a:buNone/>
            </a:pPr>
            <a:r>
              <a:rPr lang="es-PE" altLang="en-US" sz="1350" dirty="0">
                <a:solidFill>
                  <a:srgbClr val="625C6D"/>
                </a:solidFill>
                <a:latin typeface="Inter" pitchFamily="34" charset="0"/>
                <a:ea typeface="Inter" pitchFamily="34" charset="-122"/>
                <a:cs typeface="Inter" pitchFamily="34" charset="-120"/>
              </a:rPr>
              <a:t>fromeror@continental.edu.pe</a:t>
            </a:r>
            <a:endParaRPr lang="es-PE"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Universidad Continental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Gestor de pedidos · Fondo Editorial Continental</dc:title>
  <dc:subject>Arquitectura, seguridad, respaldos y guías de uso</dc:subject>
  <dc:creator>Fondo Editorial Continental</dc:creator>
  <cp:lastModifiedBy>Fondo Editorial Continental</cp:lastModifiedBy>
  <cp:revision>1</cp:revision>
  <dcterms:created xsi:type="dcterms:W3CDTF">2026-10-21T16:32:36Z</dcterms:created>
  <dcterms:modified xsi:type="dcterms:W3CDTF">2026-10-21T16:32:36Z</dcterms:modified>
</cp:coreProperties>
</file>